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7"/>
  </p:notesMasterIdLst>
  <p:sldIdLst>
    <p:sldId id="257" r:id="rId2"/>
    <p:sldId id="258" r:id="rId3"/>
    <p:sldId id="300" r:id="rId4"/>
    <p:sldId id="316" r:id="rId5"/>
    <p:sldId id="310" r:id="rId6"/>
    <p:sldId id="259" r:id="rId7"/>
    <p:sldId id="268" r:id="rId8"/>
    <p:sldId id="261" r:id="rId9"/>
    <p:sldId id="264" r:id="rId10"/>
    <p:sldId id="312" r:id="rId11"/>
    <p:sldId id="265" r:id="rId12"/>
    <p:sldId id="267" r:id="rId13"/>
    <p:sldId id="269" r:id="rId14"/>
    <p:sldId id="270" r:id="rId15"/>
    <p:sldId id="313" r:id="rId16"/>
    <p:sldId id="317" r:id="rId17"/>
    <p:sldId id="318" r:id="rId18"/>
    <p:sldId id="304" r:id="rId19"/>
    <p:sldId id="309" r:id="rId20"/>
    <p:sldId id="277" r:id="rId21"/>
    <p:sldId id="299" r:id="rId22"/>
    <p:sldId id="311" r:id="rId23"/>
    <p:sldId id="288" r:id="rId24"/>
    <p:sldId id="308" r:id="rId25"/>
    <p:sldId id="314" r:id="rId26"/>
    <p:sldId id="315" r:id="rId27"/>
    <p:sldId id="289" r:id="rId28"/>
    <p:sldId id="290" r:id="rId29"/>
    <p:sldId id="291" r:id="rId30"/>
    <p:sldId id="286" r:id="rId31"/>
    <p:sldId id="305" r:id="rId32"/>
    <p:sldId id="302" r:id="rId33"/>
    <p:sldId id="296" r:id="rId34"/>
    <p:sldId id="280" r:id="rId35"/>
    <p:sldId id="29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A667"/>
    <a:srgbClr val="C00000"/>
    <a:srgbClr val="CAEFFB"/>
    <a:srgbClr val="9DDC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72497"/>
  </p:normalViewPr>
  <p:slideViewPr>
    <p:cSldViewPr snapToGrid="0">
      <p:cViewPr>
        <p:scale>
          <a:sx n="95" d="100"/>
          <a:sy n="95" d="100"/>
        </p:scale>
        <p:origin x="1320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C5A33-4D89-D146-896C-92B4E203FD7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C409A-6EC9-B941-BC41-C561F1F92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43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Now that we’ve seen how to discover underlying patterns in unlabeled data, the focus of this second demonstration will be how we can make predictions when we </a:t>
            </a:r>
            <a:r>
              <a:rPr lang="en-CA" i="1" dirty="0"/>
              <a:t>do</a:t>
            </a:r>
            <a:r>
              <a:rPr lang="en-CA" dirty="0"/>
              <a:t> have a response variable.</a:t>
            </a:r>
          </a:p>
          <a:p>
            <a:endParaRPr lang="en-CA" dirty="0"/>
          </a:p>
          <a:p>
            <a:r>
              <a:rPr lang="en-CA" dirty="0"/>
              <a:t>This lesson would fit within </a:t>
            </a:r>
            <a:r>
              <a:rPr lang="en-CA" b="1" dirty="0"/>
              <a:t>INF1344: Introduction to Statistics for Data Science</a:t>
            </a:r>
            <a:r>
              <a:rPr lang="en-CA" dirty="0"/>
              <a:t>, taught after students have learned about basic data types and distributions.</a:t>
            </a:r>
          </a:p>
          <a:p>
            <a:endParaRPr lang="en-CA" dirty="0"/>
          </a:p>
          <a:p>
            <a:r>
              <a:rPr lang="en-CA" dirty="0"/>
              <a:t>At this stage, the goal is to move from </a:t>
            </a:r>
            <a:r>
              <a:rPr lang="en-CA" i="1" dirty="0"/>
              <a:t>describing</a:t>
            </a:r>
            <a:r>
              <a:rPr lang="en-CA" dirty="0"/>
              <a:t> relationships to </a:t>
            </a:r>
            <a:r>
              <a:rPr lang="en-CA" i="1" dirty="0"/>
              <a:t>modeling</a:t>
            </a:r>
            <a:r>
              <a:rPr lang="en-CA" dirty="0"/>
              <a:t> them — so in this demonstration we'll progress from correlation to regression.</a:t>
            </a:r>
          </a:p>
          <a:p>
            <a:endParaRPr lang="en-CA" dirty="0"/>
          </a:p>
          <a:p>
            <a:r>
              <a:rPr lang="en-CA" dirty="0"/>
              <a:t>Students in this course come from a variety of backgrounds — including information science, psychology, and sociology — so once again for this demonstration I will be focusing on clarity and interpretation, emphasizing the </a:t>
            </a:r>
            <a:r>
              <a:rPr lang="en-CA" i="1" dirty="0"/>
              <a:t>why</a:t>
            </a:r>
            <a:r>
              <a:rPr lang="en-CA" dirty="0"/>
              <a:t> behind each step before we move to code.</a:t>
            </a:r>
          </a:p>
          <a:p>
            <a:endParaRPr lang="en-CA" dirty="0"/>
          </a:p>
          <a:p>
            <a:r>
              <a:rPr lang="en-CA" dirty="0"/>
              <a:t>And as before, for timing today, I’ve streamlined the code walkthroughs a bit, to mainly focus on the key steps.</a:t>
            </a:r>
          </a:p>
          <a:p>
            <a:endParaRPr lang="en-CA" dirty="0"/>
          </a:p>
          <a:p>
            <a:r>
              <a:rPr lang="en-CA" dirty="0"/>
              <a:t>Normally, I’d include a few brief check-in points for questions during the session, but today we’ll hold all questions until the end of the demonstration.</a:t>
            </a:r>
          </a:p>
          <a:p>
            <a:endParaRPr lang="en-CA" dirty="0"/>
          </a:p>
          <a:p>
            <a:r>
              <a:rPr lang="en-CA" dirty="0"/>
              <a:t>Ok, let's begin!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0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sz="1200" dirty="0"/>
          </a:p>
          <a:p>
            <a:r>
              <a:rPr lang="en-CA" dirty="0"/>
              <a:t>By the end of this demonstration, you should be able to do three main things.</a:t>
            </a:r>
          </a:p>
          <a:p>
            <a:endParaRPr lang="en-CA" dirty="0"/>
          </a:p>
          <a:p>
            <a:r>
              <a:rPr lang="en-CA" dirty="0"/>
              <a:t>First, you’ll be able to identify what </a:t>
            </a:r>
            <a:r>
              <a:rPr lang="en-CA" i="1" dirty="0"/>
              <a:t>correlation</a:t>
            </a:r>
            <a:r>
              <a:rPr lang="en-CA" dirty="0"/>
              <a:t> and linear </a:t>
            </a:r>
            <a:r>
              <a:rPr lang="en-CA" i="1" dirty="0"/>
              <a:t>regression</a:t>
            </a:r>
            <a:r>
              <a:rPr lang="en-CA" dirty="0"/>
              <a:t> are — and understand when each is useful.</a:t>
            </a:r>
            <a:br>
              <a:rPr lang="en-CA" dirty="0"/>
            </a:br>
            <a:endParaRPr lang="en-CA" dirty="0"/>
          </a:p>
          <a:p>
            <a:r>
              <a:rPr lang="en-CA" dirty="0"/>
              <a:t>Second, we’ll focus in on </a:t>
            </a:r>
            <a:r>
              <a:rPr lang="en-CA" i="1" dirty="0"/>
              <a:t>simple linear regression, exploring </a:t>
            </a:r>
            <a:r>
              <a:rPr lang="en-CA" dirty="0"/>
              <a:t>how this methods works to model our data and make predictions for new observations.</a:t>
            </a:r>
          </a:p>
          <a:p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And finally, we’ll apply what we’ve learned in </a:t>
            </a:r>
            <a:r>
              <a:rPr lang="en-CA" b="1" dirty="0"/>
              <a:t>R</a:t>
            </a:r>
            <a:r>
              <a:rPr lang="en-CA" dirty="0"/>
              <a:t>, walking through a real dataset example. </a:t>
            </a:r>
            <a:endParaRPr lang="en-CA" b="0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86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Let’s start with the big question: </a:t>
            </a:r>
            <a:r>
              <a:rPr lang="en-CA" b="1" dirty="0"/>
              <a:t>How are two sets of numbers related?</a:t>
            </a:r>
          </a:p>
          <a:p>
            <a:endParaRPr lang="en-CA" dirty="0"/>
          </a:p>
          <a:p>
            <a:endParaRPr lang="en-CA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10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254DD-CC1D-082E-BA85-8AEFF667E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D23FB-F826-6582-06F7-5C5796B2D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02716-B2A5-2701-E4EE-22A6E13BE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We'll begin answering this question by first talking about Pearson’s correlation coefficient — often just called </a:t>
            </a:r>
            <a:r>
              <a:rPr lang="en-CA" i="1" dirty="0"/>
              <a:t>r.</a:t>
            </a:r>
            <a:endParaRPr lang="en-CA" dirty="0"/>
          </a:p>
          <a:p>
            <a:r>
              <a:rPr lang="en-CA" i="1" dirty="0"/>
              <a:t>r</a:t>
            </a:r>
            <a:r>
              <a:rPr lang="en-CA" dirty="0"/>
              <a:t> tells us </a:t>
            </a:r>
            <a:r>
              <a:rPr lang="en-CA" b="1" dirty="0"/>
              <a:t>how strongly two numeric variables move together</a:t>
            </a:r>
            <a:r>
              <a:rPr lang="en-CA" dirty="0"/>
              <a:t> and in </a:t>
            </a:r>
            <a:r>
              <a:rPr lang="en-CA" b="1" dirty="0"/>
              <a:t>what direction.</a:t>
            </a:r>
          </a:p>
          <a:p>
            <a:br>
              <a:rPr lang="en-CA" dirty="0"/>
            </a:br>
            <a:r>
              <a:rPr lang="en-CA" dirty="0"/>
              <a:t>It ranges from </a:t>
            </a:r>
            <a:r>
              <a:rPr lang="en-CA" b="1" dirty="0"/>
              <a:t>–1 to +1:</a:t>
            </a: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+1</a:t>
            </a:r>
            <a:r>
              <a:rPr lang="en-CA" dirty="0"/>
              <a:t> means a perfect positive relationship — as one goes up, so does the 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–1</a:t>
            </a:r>
            <a:r>
              <a:rPr lang="en-CA" dirty="0"/>
              <a:t> means a perfect negative relationship — as one increases, the other decreases.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0</a:t>
            </a:r>
            <a:r>
              <a:rPr lang="en-CA" dirty="0"/>
              <a:t> means no linear relationship — a change in one variable does not correspond to a change in the other.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CA" dirty="0"/>
              <a:t>The </a:t>
            </a:r>
            <a:r>
              <a:rPr lang="en-CA" b="1" dirty="0"/>
              <a:t>closer r is to +1 or –1</a:t>
            </a:r>
            <a:r>
              <a:rPr lang="en-CA" dirty="0"/>
              <a:t>, the </a:t>
            </a:r>
            <a:r>
              <a:rPr lang="en-CA" b="1" dirty="0"/>
              <a:t>stronger</a:t>
            </a:r>
            <a:r>
              <a:rPr lang="en-CA" dirty="0"/>
              <a:t> the relationship.</a:t>
            </a:r>
            <a:br>
              <a:rPr lang="en-CA" dirty="0"/>
            </a:br>
            <a:r>
              <a:rPr lang="en-CA" dirty="0"/>
              <a:t>The </a:t>
            </a:r>
            <a:r>
              <a:rPr lang="en-CA" b="1" dirty="0"/>
              <a:t>sign</a:t>
            </a:r>
            <a:r>
              <a:rPr lang="en-CA" dirty="0"/>
              <a:t> tells us the </a:t>
            </a:r>
            <a:r>
              <a:rPr lang="en-CA" b="1" dirty="0"/>
              <a:t>direction</a:t>
            </a:r>
            <a:r>
              <a:rPr lang="en-CA" dirty="0"/>
              <a:t> — positive means both move the same way, negative means they move opposite ways.</a:t>
            </a:r>
          </a:p>
          <a:p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i="1" dirty="0"/>
              <a:t>(Animation)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Here we can see some examples:</a:t>
            </a:r>
            <a:br>
              <a:rPr lang="en-CA" dirty="0"/>
            </a:br>
            <a:r>
              <a:rPr lang="en-CA" b="1" dirty="0"/>
              <a:t>Top left (r = 1):</a:t>
            </a:r>
            <a:r>
              <a:rPr lang="en-CA" dirty="0"/>
              <a:t> A perfect positive correlation — every increase in one variable matches a perfectly consistent increase in the other. The points form a straight 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Top right (r = 0.6):</a:t>
            </a:r>
            <a:r>
              <a:rPr lang="en-CA" dirty="0"/>
              <a:t> A moderate positive correlation — we still see an upward trend, but the points are more scattered. The relationship is clear but not perfect.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Bottom left (r = 0):</a:t>
            </a:r>
            <a:r>
              <a:rPr lang="en-CA" dirty="0"/>
              <a:t> No linear relationship — the points are completely scattered with no clear upward or downward trend. </a:t>
            </a:r>
            <a:r>
              <a:rPr lang="en-CA" b="1" dirty="0"/>
              <a:t>Bottom right (r = –0.8):</a:t>
            </a:r>
            <a:r>
              <a:rPr lang="en-CA" dirty="0"/>
              <a:t> A strong negative correlation — as one variable increases, we see a consistent decrease in the other. The pattern is clear but not perfectly straight.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FBE34-EA2C-61E0-CC27-FE1841F68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001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9B364-EB8C-0D36-78F1-06E02928E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1412F-1D3D-4456-0793-67F0FD21A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5402A-72F6-126B-403F-A841090B3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So far, we’ve seen that </a:t>
            </a:r>
            <a:r>
              <a:rPr lang="en-CA" b="1" dirty="0"/>
              <a:t>correlation</a:t>
            </a:r>
            <a:r>
              <a:rPr lang="en-CA" dirty="0"/>
              <a:t> tells us the </a:t>
            </a:r>
            <a:r>
              <a:rPr lang="en-CA" i="1" dirty="0"/>
              <a:t>strength</a:t>
            </a:r>
            <a:r>
              <a:rPr lang="en-CA" dirty="0"/>
              <a:t> and </a:t>
            </a:r>
            <a:r>
              <a:rPr lang="en-CA" i="1" dirty="0"/>
              <a:t>direction</a:t>
            </a:r>
            <a:r>
              <a:rPr lang="en-CA" dirty="0"/>
              <a:t> of a relationship between two numeric variables.</a:t>
            </a:r>
            <a:br>
              <a:rPr lang="en-CA" dirty="0"/>
            </a:br>
            <a:r>
              <a:rPr lang="en-CA" dirty="0"/>
              <a:t>But what if we want to go beyond just describing that relationship — and actually </a:t>
            </a:r>
            <a:r>
              <a:rPr lang="en-CA" b="1" dirty="0"/>
              <a:t>model or predict</a:t>
            </a:r>
            <a:r>
              <a:rPr lang="en-CA" dirty="0"/>
              <a:t> one variable from another?</a:t>
            </a:r>
            <a:br>
              <a:rPr lang="en-CA" dirty="0"/>
            </a:br>
            <a:r>
              <a:rPr lang="en-CA" dirty="0"/>
              <a:t>That’s where </a:t>
            </a:r>
            <a:r>
              <a:rPr lang="en-CA" b="1" dirty="0"/>
              <a:t>regression</a:t>
            </a:r>
            <a:r>
              <a:rPr lang="en-CA" dirty="0"/>
              <a:t> comes in!</a:t>
            </a:r>
          </a:p>
          <a:p>
            <a:endParaRPr lang="en-CA" dirty="0"/>
          </a:p>
          <a:p>
            <a:r>
              <a:rPr lang="en-CA" b="1" dirty="0"/>
              <a:t>Linear regression</a:t>
            </a:r>
            <a:r>
              <a:rPr lang="en-CA" dirty="0"/>
              <a:t> takes correlation one step further.</a:t>
            </a:r>
            <a:br>
              <a:rPr lang="en-CA" dirty="0"/>
            </a:br>
            <a:r>
              <a:rPr lang="en-CA" dirty="0"/>
              <a:t>While correlation only tells us that two variables are related, regression actually </a:t>
            </a:r>
            <a:r>
              <a:rPr lang="en-CA" b="1" dirty="0"/>
              <a:t>quantifies</a:t>
            </a:r>
            <a:r>
              <a:rPr lang="en-CA" dirty="0"/>
              <a:t> that relationship.</a:t>
            </a:r>
          </a:p>
          <a:p>
            <a:br>
              <a:rPr lang="en-CA" dirty="0"/>
            </a:br>
            <a:r>
              <a:rPr lang="en-CA" dirty="0"/>
              <a:t>It estimates a </a:t>
            </a:r>
            <a:r>
              <a:rPr lang="en-CA" b="1" dirty="0"/>
              <a:t>slope</a:t>
            </a:r>
            <a:r>
              <a:rPr lang="en-CA" dirty="0"/>
              <a:t>, showing how much one variable changes, on average, when the other increases — and, importantly, it gives us an </a:t>
            </a:r>
            <a:r>
              <a:rPr lang="en-CA" b="1" dirty="0"/>
              <a:t>equation</a:t>
            </a:r>
            <a:r>
              <a:rPr lang="en-CA" dirty="0"/>
              <a:t> we can use to predict one variable from the other.</a:t>
            </a:r>
          </a:p>
          <a:p>
            <a:endParaRPr lang="en-CA" dirty="0"/>
          </a:p>
          <a:p>
            <a:r>
              <a:rPr lang="en-CA" dirty="0"/>
              <a:t>So instead of just knowing that two variables move together, regression lets us </a:t>
            </a:r>
            <a:r>
              <a:rPr lang="en-CA" b="1" dirty="0"/>
              <a:t>measure how much</a:t>
            </a:r>
            <a:r>
              <a:rPr lang="en-CA" dirty="0"/>
              <a:t> and </a:t>
            </a:r>
            <a:r>
              <a:rPr lang="en-CA" b="1" dirty="0"/>
              <a:t>in what direction</a:t>
            </a:r>
            <a:r>
              <a:rPr lang="en-CA" dirty="0"/>
              <a:t> one affects the other.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BA7B4-513D-A766-53F2-29FDA567A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6662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a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regression problem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we're trying to predict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numeric value of interest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based on one or more input variables/ or features.</a:t>
            </a: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endParaRPr lang="en-CA" b="0" dirty="0">
              <a:effectLst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 example, imagine we want to predict someone's weight(so this would be our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 variable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). One predictor or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 variable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we could use is height. Intuitively, the taller someone is, the more they would weigh generally. Regression allows us to quantify this relationship</a:t>
            </a: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endParaRPr lang="en-CA" b="0" dirty="0">
              <a:effectLst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regression model works by examining a dataset of past observations to identify patterns in the relationship between predictors and the response variable, so in this case height and weight. Using these patterns, the model essentially 'draws' a line of best fit—we’ll talk more about what defines “best fit” in the next few slides. </a:t>
            </a: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endParaRPr lang="en-CA" b="0" dirty="0">
              <a:effectLst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But for now, this line of best fit essentially becomes the tool for making predictions. ANIMATION For any new observation, such as a person with a height we haven't seen before, the model uses the established relationship to estimate the expected weight of that person. ANIMATION</a:t>
            </a:r>
            <a:endParaRPr lang="en-CA" b="0" dirty="0">
              <a:effectLst/>
            </a:endParaRPr>
          </a:p>
          <a:p>
            <a:br>
              <a:rPr lang="en-CA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91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OK, So how do we define this line of best fit?</a:t>
            </a:r>
          </a:p>
          <a:p>
            <a:endParaRPr lang="en-CA" sz="2800" dirty="0"/>
          </a:p>
          <a:p>
            <a:r>
              <a:rPr lang="en-CA" sz="2800" dirty="0"/>
              <a:t>This is a formula you've probably seen before in high school math:</a:t>
            </a:r>
            <a:br>
              <a:rPr lang="en-CA" sz="2800" dirty="0"/>
            </a:br>
            <a:r>
              <a:rPr lang="en-CA" sz="2800" b="1" dirty="0"/>
              <a:t>y = mx + b</a:t>
            </a:r>
            <a:r>
              <a:rPr lang="en-CA" sz="2800" dirty="0"/>
              <a:t>, or in statistical terms, </a:t>
            </a:r>
            <a:r>
              <a:rPr lang="en-CA" sz="2800" b="1" dirty="0"/>
              <a:t>y = </a:t>
            </a:r>
            <a:r>
              <a:rPr lang="en-CA" sz="2800" b="1" dirty="0" err="1"/>
              <a:t>b₁x</a:t>
            </a:r>
            <a:r>
              <a:rPr lang="en-CA" sz="2800" b="1" dirty="0"/>
              <a:t> + b₀</a:t>
            </a:r>
            <a:r>
              <a:rPr lang="en-CA" sz="2800" dirty="0"/>
              <a:t>.</a:t>
            </a:r>
          </a:p>
          <a:p>
            <a:endParaRPr lang="en-CA" sz="2800" dirty="0"/>
          </a:p>
          <a:p>
            <a:r>
              <a:rPr lang="en-CA" sz="2800" dirty="0"/>
              <a:t>Let’s break down what each part means (ANIMATION)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800" b="1" dirty="0"/>
              <a:t>Predictor Variable (x):</a:t>
            </a:r>
            <a:r>
              <a:rPr lang="en-CA" sz="2800" dirty="0"/>
              <a:t> This is the </a:t>
            </a:r>
            <a:r>
              <a:rPr lang="en-CA" sz="2800" i="1" dirty="0"/>
              <a:t>independent variable</a:t>
            </a:r>
            <a:r>
              <a:rPr lang="en-CA" sz="2800" dirty="0"/>
              <a:t> — the factor you use to make predictions. For example, we talked about this would be </a:t>
            </a:r>
            <a:r>
              <a:rPr lang="en-CA" sz="4000" b="1" dirty="0"/>
              <a:t>height</a:t>
            </a:r>
            <a:r>
              <a:rPr lang="en-CA" sz="4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CA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2800" b="1" dirty="0"/>
              <a:t>Response Variable (y):</a:t>
            </a:r>
            <a:r>
              <a:rPr lang="en-CA" sz="2800" dirty="0"/>
              <a:t> This is the </a:t>
            </a:r>
            <a:r>
              <a:rPr lang="en-CA" sz="2800" i="1" dirty="0"/>
              <a:t>dependent variable</a:t>
            </a:r>
            <a:r>
              <a:rPr lang="en-CA" sz="2800" dirty="0"/>
              <a:t> — the outcome you’re trying to predict. In our example, that would be </a:t>
            </a:r>
            <a:r>
              <a:rPr lang="en-CA" sz="2800" b="1" dirty="0"/>
              <a:t>weight</a:t>
            </a:r>
            <a:r>
              <a:rPr lang="en-CA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800" b="1" dirty="0"/>
              <a:t>Slope (b₁):</a:t>
            </a:r>
            <a:r>
              <a:rPr lang="en-CA" sz="2800" dirty="0"/>
              <a:t> The slope tells us </a:t>
            </a:r>
            <a:r>
              <a:rPr lang="en-CA" sz="2800" b="1" dirty="0"/>
              <a:t>how much y changes</a:t>
            </a:r>
            <a:r>
              <a:rPr lang="en-CA" sz="2800" dirty="0"/>
              <a:t> for every one-unit increase in x. </a:t>
            </a:r>
            <a:r>
              <a:rPr lang="en-CA" sz="4000" dirty="0"/>
              <a:t>So here, it shows </a:t>
            </a:r>
            <a:r>
              <a:rPr lang="en-CA" sz="4000" b="1" dirty="0"/>
              <a:t>how much weight tends to change per every inch of height. </a:t>
            </a:r>
            <a:r>
              <a:rPr lang="en-CA" sz="2800" dirty="0"/>
              <a:t>A steeper slope means a stronger relationship between the two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800" b="1" dirty="0"/>
              <a:t>Y-intercept (b₀):</a:t>
            </a:r>
            <a:r>
              <a:rPr lang="en-CA" sz="2800" dirty="0"/>
              <a:t> This is the value of y when x is zero — essentially the </a:t>
            </a:r>
            <a:r>
              <a:rPr lang="en-CA" sz="2800" b="1" dirty="0"/>
              <a:t>starting point</a:t>
            </a:r>
            <a:r>
              <a:rPr lang="en-CA" sz="2800" dirty="0"/>
              <a:t> of the line on the y-axis.</a:t>
            </a:r>
          </a:p>
          <a:p>
            <a:pPr>
              <a:buFont typeface="Arial" panose="020B0604020202020204" pitchFamily="34" charset="0"/>
              <a:buChar char="•"/>
            </a:pPr>
            <a:endParaRPr lang="en-CA" sz="2800" dirty="0"/>
          </a:p>
          <a:p>
            <a:r>
              <a:rPr lang="en-CA" sz="2800" dirty="0"/>
              <a:t>So, together, these elements, b1 and b0, define a line that best fits our data, helping us </a:t>
            </a:r>
            <a:r>
              <a:rPr lang="en-CA" sz="2800" b="1" dirty="0"/>
              <a:t>quantify and predict</a:t>
            </a:r>
            <a:r>
              <a:rPr lang="en-CA" sz="2800" dirty="0"/>
              <a:t> how one variable changes as the result of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73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Let’s walk through an example to illustrate how linear regression can be applied in practice.</a:t>
            </a:r>
            <a:endParaRPr lang="en-CA" b="0" dirty="0">
              <a:effectLst/>
            </a:endParaRPr>
          </a:p>
          <a:p>
            <a:br>
              <a:rPr lang="en-CA" b="0" dirty="0">
                <a:effectLst/>
              </a:rPr>
            </a:b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Here, we are using housing data from </a:t>
            </a:r>
            <a:r>
              <a:rPr lang="en-CA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sacramento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we are looking at whether the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size of a house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—measured in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square feet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—can be used to predict its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sale price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99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we look at the scatter plot, we notice a clear trend—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 the size of a house increases, its sale price generally rises as well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This positive correlation suggests that larger homes tend to sell for more, which aligns with our intuition about the real estate market.</a:t>
            </a:r>
            <a:endParaRPr lang="en-CA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CA" b="0" dirty="0">
                <a:effectLst/>
              </a:rPr>
            </a:b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observation is important because it implies that we could potentially use the size of a house to predict its sale price. In other words, even if a house hasn't been sold yet, its size could help us estimate a reasonable selling price based on the patterns observed in our dataset.</a:t>
            </a:r>
            <a:endParaRPr lang="en-CA" b="0" dirty="0">
              <a:effectLst/>
            </a:endParaRPr>
          </a:p>
          <a:p>
            <a:br>
              <a:rPr lang="en-CA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39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C3DA8-E771-05F0-CA73-60FDD7E4C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57FA6-80BC-AF6A-B921-A26A76C31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5477C-0596-2EB4-20C0-C20AB8CE6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Before we run a linear regression model, it’s important to check a few </a:t>
            </a:r>
            <a:r>
              <a:rPr lang="en-CA" b="1" dirty="0"/>
              <a:t>basic assumptions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Th first one is </a:t>
            </a:r>
          </a:p>
          <a:p>
            <a:pPr marL="228600" indent="-228600">
              <a:buAutoNum type="arabicPeriod"/>
            </a:pPr>
            <a:r>
              <a:rPr lang="en-CA" b="1" dirty="0"/>
              <a:t>Linearity</a:t>
            </a:r>
            <a:br>
              <a:rPr lang="en-CA" dirty="0"/>
            </a:br>
            <a:r>
              <a:rPr lang="en-CA" dirty="0"/>
              <a:t>We assume there’s a </a:t>
            </a:r>
            <a:r>
              <a:rPr lang="en-CA" b="1" dirty="0"/>
              <a:t>roughly straight-line relationship</a:t>
            </a:r>
            <a:r>
              <a:rPr lang="en-CA" dirty="0"/>
              <a:t> between our predictor variable (</a:t>
            </a:r>
            <a:r>
              <a:rPr lang="en-CA" i="1" dirty="0"/>
              <a:t>X</a:t>
            </a:r>
            <a:r>
              <a:rPr lang="en-CA" dirty="0"/>
              <a:t>) and our outcome variable (</a:t>
            </a:r>
            <a:r>
              <a:rPr lang="en-CA" i="1" dirty="0"/>
              <a:t>Y</a:t>
            </a:r>
            <a:r>
              <a:rPr lang="en-CA" dirty="0"/>
              <a:t>).</a:t>
            </a:r>
            <a:br>
              <a:rPr lang="en-CA" dirty="0"/>
            </a:br>
            <a:r>
              <a:rPr lang="en-CA" dirty="0"/>
              <a:t>An easy way to check this is by looking at a </a:t>
            </a:r>
            <a:r>
              <a:rPr lang="en-CA" b="1" dirty="0"/>
              <a:t>scatter plot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As we saw, our data shows a clear positive trend — as house size increases, house price tends to increase as well — so this assumption appears to be </a:t>
            </a:r>
            <a:r>
              <a:rPr lang="en-CA" b="1" dirty="0"/>
              <a:t>met</a:t>
            </a:r>
            <a:r>
              <a:rPr lang="en-CA" dirty="0"/>
              <a:t>. However, (ANIMATION) in instances where the points form a </a:t>
            </a:r>
            <a:r>
              <a:rPr lang="en-CA" b="1" dirty="0"/>
              <a:t>curved</a:t>
            </a:r>
            <a:r>
              <a:rPr lang="en-CA" dirty="0"/>
              <a:t> or </a:t>
            </a:r>
            <a:r>
              <a:rPr lang="en-CA" b="1" dirty="0"/>
              <a:t>non-linear</a:t>
            </a:r>
            <a:r>
              <a:rPr lang="en-CA" dirty="0"/>
              <a:t> pattern, a straight line may not be the best way to model our data.</a:t>
            </a:r>
          </a:p>
          <a:p>
            <a:pPr marL="228600" indent="-228600">
              <a:buAutoNum type="arabicPeriod"/>
            </a:pPr>
            <a:endParaRPr lang="en-CA" dirty="0"/>
          </a:p>
          <a:p>
            <a:r>
              <a:rPr lang="en-CA" b="1" dirty="0"/>
              <a:t>the second assumption is Independence</a:t>
            </a:r>
            <a:br>
              <a:rPr lang="en-CA" dirty="0"/>
            </a:br>
            <a:r>
              <a:rPr lang="en-CA" dirty="0"/>
              <a:t>Each data point should be independent, meaning that one observation doesn’t influence another.</a:t>
            </a:r>
            <a:br>
              <a:rPr lang="en-CA" dirty="0"/>
            </a:br>
            <a:r>
              <a:rPr lang="en-CA" dirty="0"/>
              <a:t>This assumption is typically built into how the data are collected — for example, if each house in our dataset was sampled separately, we can assume independence.</a:t>
            </a:r>
            <a:br>
              <a:rPr lang="en-CA" dirty="0"/>
            </a:br>
            <a:r>
              <a:rPr lang="en-CA" dirty="0"/>
              <a:t>However, if the data are related or clustered — say, many houses come from the same street or neighborhood — then that assumption may be violated.</a:t>
            </a:r>
            <a:br>
              <a:rPr lang="en-CA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F68DD-192B-1E57-3335-06A5546FE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792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5400" dirty="0"/>
              <a:t>Ok, </a:t>
            </a:r>
            <a:r>
              <a:rPr lang="en-CA" sz="7200" dirty="0"/>
              <a:t>Now that we’ve established our assumptions are met, we can </a:t>
            </a:r>
            <a:r>
              <a:rPr lang="en-CA" sz="7200" b="1" dirty="0"/>
              <a:t>go ahead move forward with our linear regression model</a:t>
            </a:r>
            <a:r>
              <a:rPr lang="en-CA" sz="7200" dirty="0"/>
              <a:t> to quantify how house size predicts sale price.</a:t>
            </a:r>
          </a:p>
          <a:p>
            <a:endParaRPr lang="en-CA" sz="4000" b="1" dirty="0"/>
          </a:p>
          <a:p>
            <a:r>
              <a:rPr lang="en-CA" sz="4000" b="1" dirty="0"/>
              <a:t>The equation for our model would look like this:</a:t>
            </a:r>
          </a:p>
          <a:p>
            <a:endParaRPr lang="en-CA" sz="4000" b="1" dirty="0"/>
          </a:p>
          <a:p>
            <a:r>
              <a:rPr lang="en-CA" sz="4000" b="1" dirty="0"/>
              <a:t>House Sale Price = </a:t>
            </a:r>
            <a:r>
              <a:rPr lang="el-GR" sz="4000" b="1" dirty="0"/>
              <a:t>β₁ × (</a:t>
            </a:r>
            <a:r>
              <a:rPr lang="en-CA" sz="4000" b="1" dirty="0"/>
              <a:t>House Size) + </a:t>
            </a:r>
            <a:r>
              <a:rPr lang="el-GR" sz="4000" b="1" dirty="0"/>
              <a:t>β₀  </a:t>
            </a:r>
            <a:endParaRPr lang="en-CA" sz="4000" dirty="0"/>
          </a:p>
          <a:p>
            <a:r>
              <a:rPr lang="en-CA" sz="4000" dirty="0"/>
              <a:t>where:</a:t>
            </a:r>
          </a:p>
          <a:p>
            <a:endParaRPr lang="en-CA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l-GR" sz="4000" b="1" dirty="0"/>
              <a:t>β₀</a:t>
            </a:r>
            <a:r>
              <a:rPr lang="el-GR" sz="4000" dirty="0"/>
              <a:t>, </a:t>
            </a:r>
            <a:r>
              <a:rPr lang="en-CA" sz="4000" dirty="0"/>
              <a:t>the estimated base price of a house with </a:t>
            </a:r>
            <a:r>
              <a:rPr lang="en-CA" sz="4000" b="1" dirty="0"/>
              <a:t>zero square feet</a:t>
            </a:r>
            <a:r>
              <a:rPr lang="en-CA" sz="4000" dirty="0"/>
              <a:t>.</a:t>
            </a:r>
            <a:br>
              <a:rPr lang="en-CA" sz="4000" dirty="0"/>
            </a:br>
            <a:r>
              <a:rPr lang="en-CA" sz="4000" dirty="0"/>
              <a:t>Now, that doesn’t make much practical sense — since no house is truly 0 square feet — but it’s an essential part of the equation because it defines the </a:t>
            </a:r>
            <a:r>
              <a:rPr lang="en-CA" sz="4000" b="1" dirty="0"/>
              <a:t>starting point of our regression line</a:t>
            </a:r>
            <a:r>
              <a:rPr lang="en-CA" sz="4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CA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l-GR" sz="4000" b="1" dirty="0"/>
              <a:t>β₁</a:t>
            </a:r>
            <a:r>
              <a:rPr lang="el-GR" sz="4000" dirty="0"/>
              <a:t>, </a:t>
            </a:r>
            <a:r>
              <a:rPr lang="en-CA" sz="4000" dirty="0"/>
              <a:t>or the </a:t>
            </a:r>
            <a:r>
              <a:rPr lang="en-CA" sz="4000" b="1" dirty="0"/>
              <a:t>slope</a:t>
            </a:r>
            <a:r>
              <a:rPr lang="en-CA" sz="4000" dirty="0"/>
              <a:t>, tells us </a:t>
            </a:r>
            <a:r>
              <a:rPr lang="en-CA" sz="4000" b="1" dirty="0"/>
              <a:t>how much the price changes for each additional square foot</a:t>
            </a:r>
            <a:r>
              <a:rPr lang="en-CA" sz="4000" dirty="0"/>
              <a:t> of house size.</a:t>
            </a:r>
            <a:br>
              <a:rPr lang="en-CA" sz="4000" dirty="0"/>
            </a:br>
            <a:endParaRPr lang="en-CA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4000" dirty="0"/>
              <a:t>Together, </a:t>
            </a:r>
            <a:r>
              <a:rPr lang="el-GR" sz="4000" b="1" dirty="0"/>
              <a:t>β₀ </a:t>
            </a:r>
            <a:r>
              <a:rPr lang="en-CA" sz="4000" b="1" dirty="0"/>
              <a:t>and </a:t>
            </a:r>
            <a:r>
              <a:rPr lang="el-GR" sz="4000" b="1" dirty="0"/>
              <a:t>β₁ </a:t>
            </a:r>
            <a:r>
              <a:rPr lang="en-CA" sz="4000" b="1" dirty="0"/>
              <a:t>define the line of best fit</a:t>
            </a:r>
            <a:endParaRPr lang="en-CA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18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4000" dirty="0"/>
              <a:t>This line summarizes the overall pattern in the data —</a:t>
            </a:r>
            <a:br>
              <a:rPr lang="en-CA" sz="4000" dirty="0"/>
            </a:br>
            <a:r>
              <a:rPr lang="en-CA" sz="4000" dirty="0"/>
              <a:t>as </a:t>
            </a:r>
            <a:r>
              <a:rPr lang="en-CA" sz="4000" b="1" dirty="0"/>
              <a:t>square footage increases</a:t>
            </a:r>
            <a:r>
              <a:rPr lang="en-CA" sz="4000" dirty="0"/>
              <a:t>, </a:t>
            </a:r>
            <a:r>
              <a:rPr lang="en-CA" sz="4000" b="1" dirty="0"/>
              <a:t>price</a:t>
            </a:r>
            <a:r>
              <a:rPr lang="en-CA" sz="4000" dirty="0"/>
              <a:t> generally increases as well.</a:t>
            </a:r>
          </a:p>
          <a:p>
            <a:endParaRPr lang="en-CA" sz="4000" dirty="0"/>
          </a:p>
          <a:p>
            <a:r>
              <a:rPr lang="en-CA" sz="4000" dirty="0"/>
              <a:t>You can also see that the points don’t fall perfectly on the line — there’s some </a:t>
            </a:r>
            <a:r>
              <a:rPr lang="en-CA" sz="4000" b="1" dirty="0"/>
              <a:t>spread</a:t>
            </a:r>
            <a:r>
              <a:rPr lang="en-CA" sz="4000" dirty="0"/>
              <a:t>, or </a:t>
            </a:r>
            <a:r>
              <a:rPr lang="en-CA" sz="4000" b="1" dirty="0"/>
              <a:t>residual error</a:t>
            </a:r>
            <a:r>
              <a:rPr lang="en-CA" sz="4000" dirty="0"/>
              <a:t> — which reflects the real-world variation that our model doesn’t fully explain.</a:t>
            </a:r>
            <a:br>
              <a:rPr lang="en-CA" sz="4000" dirty="0"/>
            </a:br>
            <a:r>
              <a:rPr lang="en-CA" sz="4000" dirty="0"/>
              <a:t>We’ll talk more about that soon!</a:t>
            </a:r>
          </a:p>
          <a:p>
            <a:endParaRPr lang="en-CA" sz="4000" dirty="0"/>
          </a:p>
          <a:p>
            <a:r>
              <a:rPr lang="en-CA" sz="4000" dirty="0"/>
              <a:t>Now, let’s take this one step further.</a:t>
            </a:r>
            <a:br>
              <a:rPr lang="en-CA" sz="4000" dirty="0"/>
            </a:br>
            <a:r>
              <a:rPr lang="en-CA" sz="4000" dirty="0"/>
              <a:t>Suppose we want to know whether a </a:t>
            </a:r>
            <a:r>
              <a:rPr lang="en-CA" sz="4000" b="1" dirty="0"/>
              <a:t>$350,000 asking price</a:t>
            </a:r>
            <a:r>
              <a:rPr lang="en-CA" sz="4000" dirty="0"/>
              <a:t> for a </a:t>
            </a:r>
            <a:r>
              <a:rPr lang="en-CA" sz="4000" b="1" dirty="0"/>
              <a:t>2,000 square-foot house</a:t>
            </a:r>
            <a:r>
              <a:rPr lang="en-CA" sz="4000" dirty="0"/>
              <a:t> in Sacramento is fair.</a:t>
            </a:r>
          </a:p>
          <a:p>
            <a:r>
              <a:rPr lang="en-CA" sz="4000" dirty="0"/>
              <a:t>In our dataset, we don’t have a house that’s exactly 2,000 square feet — so how can we estimate what it </a:t>
            </a:r>
            <a:r>
              <a:rPr lang="en-CA" sz="4000" i="1" dirty="0"/>
              <a:t>should</a:t>
            </a:r>
            <a:r>
              <a:rPr lang="en-CA" sz="4000" dirty="0"/>
              <a:t> sell for?</a:t>
            </a:r>
          </a:p>
          <a:p>
            <a:endParaRPr lang="en-CA" sz="4000" dirty="0"/>
          </a:p>
          <a:p>
            <a:r>
              <a:rPr lang="en-CA" sz="4000" dirty="0"/>
              <a:t>That’s exactly where our </a:t>
            </a:r>
            <a:r>
              <a:rPr lang="en-CA" sz="4000" b="1" dirty="0"/>
              <a:t>line of best fit</a:t>
            </a:r>
            <a:r>
              <a:rPr lang="en-CA" sz="4000" dirty="0"/>
              <a:t> becomes useful.</a:t>
            </a:r>
            <a:br>
              <a:rPr lang="en-CA" sz="4000" dirty="0"/>
            </a:br>
            <a:r>
              <a:rPr lang="en-CA" sz="4000" dirty="0"/>
              <a:t>It gives us a </a:t>
            </a:r>
            <a:r>
              <a:rPr lang="en-CA" sz="4000" b="1" dirty="0"/>
              <a:t>mathematical equation</a:t>
            </a:r>
            <a:r>
              <a:rPr lang="en-CA" sz="4000" dirty="0"/>
              <a:t> we can use to </a:t>
            </a:r>
            <a:r>
              <a:rPr lang="en-CA" sz="4000" b="1" dirty="0"/>
              <a:t>predict</a:t>
            </a:r>
            <a:r>
              <a:rPr lang="en-CA" sz="4000" dirty="0"/>
              <a:t> the expected price for any given house size — even if that specific value doesn’t appear in our data.</a:t>
            </a:r>
          </a:p>
          <a:p>
            <a:br>
              <a:rPr lang="en-CA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52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Once we have the coefficients—base price beta_0 and slope; beta_1 —we can use this regression equation to predict the sale price of a house based on its size.</a:t>
            </a:r>
            <a:endParaRPr lang="en-CA" b="0" dirty="0">
              <a:effectLst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endParaRPr lang="en-CA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 example, let’s say:</a:t>
            </a:r>
            <a:endParaRPr lang="en-CA" b="0" dirty="0">
              <a:effectLst/>
            </a:endParaRPr>
          </a:p>
          <a:p>
            <a:pPr rtl="0" fontAlgn="base">
              <a:spcBef>
                <a:spcPts val="1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base price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(beta_0​) is roughly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$16 thousand 200</a:t>
            </a:r>
            <a:endParaRPr lang="en-CA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slope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(beta_1​) is roughly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$135 per square foot</a:t>
            </a:r>
            <a:endParaRPr lang="en-CA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Using the equation:</a:t>
            </a:r>
            <a:endParaRPr lang="en-CA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Sale Price = 135×(House Size) + 16 thousand, 200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CA" b="0" dirty="0">
              <a:effectLst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So, if we plug our x into the equation, 2,000 square-foot house, the predicted sale price is approx.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$286,000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endParaRPr lang="en-CA" b="0" dirty="0">
              <a:effectLst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However, I do want to point out that linear regression models can make predictions for any value of x, even for extreme or unrealistic values, such as:</a:t>
            </a:r>
            <a:endParaRPr lang="en-CA" b="0" dirty="0">
              <a:effectLst/>
            </a:endParaRPr>
          </a:p>
          <a:p>
            <a:pPr rtl="0" fontAlgn="base">
              <a:spcBef>
                <a:spcPts val="1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we plugged in a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6-million-square-foot house into our equation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this would produce an unusually high price,</a:t>
            </a:r>
          </a:p>
          <a:p>
            <a:pPr rtl="0" fontAlgn="base"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similarly, if we plugged in a 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-2,000 square-foot house into our equation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this would result in an illogical negative price.</a:t>
            </a: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These predictions are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unreliable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because they fall outside the range of the data we used to make the model.</a:t>
            </a: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endParaRPr lang="en-CA" b="0" dirty="0">
              <a:effectLst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2800" dirty="0"/>
              <a:t>So, while linear regression </a:t>
            </a:r>
            <a:r>
              <a:rPr lang="en-CA" sz="2800" i="1" dirty="0"/>
              <a:t>can</a:t>
            </a:r>
            <a:r>
              <a:rPr lang="en-CA" sz="2800" dirty="0"/>
              <a:t> extrapolate, meaning it can make predictions beyond the range of our data, those predictions become less reliable.</a:t>
            </a:r>
            <a:br>
              <a:rPr lang="en-CA" sz="2800" dirty="0"/>
            </a:br>
            <a:r>
              <a:rPr lang="en-CA" sz="2800" dirty="0"/>
              <a:t>It’s best to make predictions only within the range of the original data — and to extrapolate beyond it only if there’s a strong, logical reason to believe the trend continues.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54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plotting data points on a graph, we can see that there are many possible lines that could be drawn through the points. So, you may be asking yourself how do we choose the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line of best fit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endParaRPr lang="en-CA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simple terms, the </a:t>
            </a:r>
            <a:r>
              <a:rPr lang="en-CA" sz="2800" b="1" dirty="0"/>
              <a:t>line of best fit</a:t>
            </a:r>
            <a:r>
              <a:rPr lang="en-CA" sz="2800" dirty="0"/>
              <a:t> is the straight line that comes </a:t>
            </a:r>
            <a:r>
              <a:rPr lang="en-CA" sz="2800" i="1" dirty="0"/>
              <a:t>closest</a:t>
            </a:r>
            <a:r>
              <a:rPr lang="en-CA" sz="2800" dirty="0"/>
              <a:t> to all the points on a scatter plot.</a:t>
            </a:r>
          </a:p>
          <a:p>
            <a:br>
              <a:rPr lang="en-CA" sz="2800" dirty="0"/>
            </a:br>
            <a:r>
              <a:rPr lang="en-CA" sz="2800" dirty="0"/>
              <a:t>ANIMATION The line is “best” because it’s drawn in a way that makes the </a:t>
            </a:r>
            <a:r>
              <a:rPr lang="en-CA" sz="2800" b="1" dirty="0"/>
              <a:t>predicted values</a:t>
            </a:r>
            <a:r>
              <a:rPr lang="en-CA" sz="2800" dirty="0"/>
              <a:t> from the line as close as possible to the </a:t>
            </a:r>
            <a:r>
              <a:rPr lang="en-CA" sz="2800" b="1" dirty="0"/>
              <a:t>actual data points</a:t>
            </a:r>
            <a:r>
              <a:rPr lang="en-CA" sz="2800" dirty="0"/>
              <a:t>.</a:t>
            </a:r>
            <a:br>
              <a:rPr lang="en-CA" sz="2800" dirty="0"/>
            </a:br>
            <a:r>
              <a:rPr lang="en-CA" sz="2800" dirty="0"/>
              <a:t>In other words, it tries to keep the gaps between the real points and the line, which reflect error or residuals, as small as possible on average.</a:t>
            </a:r>
          </a:p>
          <a:p>
            <a:endParaRPr lang="en-CA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CA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42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C9CFC-6E73-4B00-2204-D1BF0421A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FDC60-32A7-F96E-72E0-3033E837B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9D977-2CAF-494D-9ACF-36DB15D30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000" dirty="0"/>
              <a:t>Once we’ve fitted our regression model, it’s important to check a few </a:t>
            </a:r>
            <a:r>
              <a:rPr lang="en-CA" sz="2000" b="1" dirty="0"/>
              <a:t>additional assumptions</a:t>
            </a:r>
            <a:r>
              <a:rPr lang="en-CA" sz="2000" dirty="0"/>
              <a:t>.</a:t>
            </a:r>
            <a:br>
              <a:rPr lang="en-CA" sz="2000" dirty="0"/>
            </a:br>
            <a:r>
              <a:rPr lang="en-CA" sz="2000" dirty="0"/>
              <a:t>These help ensure that our model is </a:t>
            </a:r>
            <a:r>
              <a:rPr lang="en-CA" sz="2000" b="1" dirty="0"/>
              <a:t>reliable</a:t>
            </a:r>
            <a:r>
              <a:rPr lang="en-CA" sz="2000" dirty="0"/>
              <a:t> and that the results we draw from it are </a:t>
            </a:r>
            <a:r>
              <a:rPr lang="en-CA" sz="2000" b="1" dirty="0"/>
              <a:t>valid</a:t>
            </a:r>
            <a:r>
              <a:rPr lang="en-CA" sz="2000" dirty="0"/>
              <a:t>.</a:t>
            </a:r>
          </a:p>
          <a:p>
            <a:endParaRPr lang="en-CA" sz="2000" dirty="0"/>
          </a:p>
          <a:p>
            <a:r>
              <a:rPr lang="en-CA" sz="2000" b="1" dirty="0"/>
              <a:t>Constant Variance</a:t>
            </a:r>
            <a:br>
              <a:rPr lang="en-CA" sz="2000" dirty="0"/>
            </a:br>
            <a:r>
              <a:rPr lang="en-CA" sz="6000" dirty="0"/>
              <a:t>The </a:t>
            </a:r>
            <a:r>
              <a:rPr lang="en-CA" sz="6000" b="1" dirty="0"/>
              <a:t>spread of the errors</a:t>
            </a:r>
            <a:r>
              <a:rPr lang="en-CA" sz="6000" dirty="0"/>
              <a:t> should stay about the same no matter what values our predictor takes.</a:t>
            </a:r>
            <a:br>
              <a:rPr lang="en-CA" sz="6000" dirty="0"/>
            </a:br>
            <a:r>
              <a:rPr lang="en-CA" sz="6000" dirty="0"/>
              <a:t>In simple terms, the size of the mistakes the model makes shouldn’t depend on whether we’re predicting small or large houses.</a:t>
            </a:r>
          </a:p>
          <a:p>
            <a:r>
              <a:rPr lang="en-CA" sz="6000" dirty="0"/>
              <a:t>We can check this by </a:t>
            </a:r>
            <a:r>
              <a:rPr lang="en-CA" sz="6000" b="1" dirty="0"/>
              <a:t>plotting the errors against the predicted prices</a:t>
            </a:r>
            <a:r>
              <a:rPr lang="en-CA" sz="6000" dirty="0"/>
              <a:t>.</a:t>
            </a:r>
            <a:br>
              <a:rPr lang="en-CA" sz="6000" dirty="0"/>
            </a:br>
            <a:r>
              <a:rPr lang="en-CA" sz="6000" dirty="0"/>
              <a:t>If the points look </a:t>
            </a:r>
            <a:r>
              <a:rPr lang="en-CA" sz="6000" b="1" dirty="0"/>
              <a:t>evenly scattered</a:t>
            </a:r>
            <a:r>
              <a:rPr lang="en-CA" sz="6000" dirty="0"/>
              <a:t>, great — that means the assumption is likely met.</a:t>
            </a:r>
          </a:p>
          <a:p>
            <a:r>
              <a:rPr lang="en-CA" sz="6000" i="1" dirty="0"/>
              <a:t>(Animation)</a:t>
            </a:r>
            <a:br>
              <a:rPr lang="en-CA" sz="6000" dirty="0"/>
            </a:br>
            <a:r>
              <a:rPr lang="en-CA" sz="6000" dirty="0"/>
              <a:t>But if the points start to form a </a:t>
            </a:r>
            <a:r>
              <a:rPr lang="en-CA" sz="6000" b="1" dirty="0"/>
              <a:t>funnel shape</a:t>
            </a:r>
            <a:r>
              <a:rPr lang="en-CA" sz="6000" dirty="0"/>
              <a:t>, where the scatter widens, that’s a sign of </a:t>
            </a:r>
            <a:r>
              <a:rPr lang="en-CA" sz="6000" b="1" dirty="0"/>
              <a:t>uneven variance</a:t>
            </a:r>
            <a:r>
              <a:rPr lang="en-CA" sz="6000" dirty="0"/>
              <a:t>.</a:t>
            </a:r>
          </a:p>
          <a:p>
            <a:r>
              <a:rPr lang="en-CA" sz="6000" dirty="0"/>
              <a:t>In our example, that would mean the </a:t>
            </a:r>
            <a:r>
              <a:rPr lang="en-CA" sz="6000" b="1" dirty="0"/>
              <a:t>model makes bigger mistakes for higher-priced houses</a:t>
            </a:r>
            <a:r>
              <a:rPr lang="en-CA" sz="6000" dirty="0"/>
              <a:t>, so the predictions become </a:t>
            </a:r>
            <a:r>
              <a:rPr lang="en-CA" sz="6000" b="1" dirty="0"/>
              <a:t>less consistent</a:t>
            </a:r>
            <a:r>
              <a:rPr lang="en-CA" sz="6000" dirty="0"/>
              <a:t> as prices go up.</a:t>
            </a:r>
          </a:p>
          <a:p>
            <a:endParaRPr lang="en-CA" sz="2000" b="1" dirty="0"/>
          </a:p>
          <a:p>
            <a:r>
              <a:rPr lang="en-CA" sz="2000" b="1" dirty="0"/>
              <a:t>2. Normality of Errors</a:t>
            </a:r>
            <a:br>
              <a:rPr lang="en-CA" sz="2000" dirty="0"/>
            </a:br>
            <a:r>
              <a:rPr lang="en-CA" sz="6000" dirty="0"/>
              <a:t>The </a:t>
            </a:r>
            <a:r>
              <a:rPr lang="en-CA" sz="6000" b="1" dirty="0"/>
              <a:t>errors</a:t>
            </a:r>
            <a:r>
              <a:rPr lang="en-CA" sz="6000" dirty="0"/>
              <a:t> — or how far off our predictions are — should roughly follow a </a:t>
            </a:r>
            <a:r>
              <a:rPr lang="en-CA" sz="6000" b="1" dirty="0"/>
              <a:t>normal distribution</a:t>
            </a:r>
            <a:r>
              <a:rPr lang="en-CA" sz="6000" dirty="0"/>
              <a:t>.</a:t>
            </a:r>
            <a:br>
              <a:rPr lang="en-CA" sz="6000" dirty="0"/>
            </a:br>
            <a:r>
              <a:rPr lang="en-CA" sz="6000" dirty="0"/>
              <a:t>That means most of our errors are small, with only a few big ones on either side.</a:t>
            </a:r>
          </a:p>
          <a:p>
            <a:r>
              <a:rPr lang="en-CA" sz="6000" dirty="0"/>
              <a:t>We can check this in two ways: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6000" dirty="0"/>
              <a:t>A </a:t>
            </a:r>
            <a:r>
              <a:rPr lang="en-CA" sz="6000" b="1" dirty="0"/>
              <a:t>histogram</a:t>
            </a:r>
            <a:r>
              <a:rPr lang="en-CA" sz="6000" dirty="0"/>
              <a:t> — if it looks </a:t>
            </a:r>
            <a:r>
              <a:rPr lang="en-CA" sz="6000" b="1" dirty="0"/>
              <a:t>bell-shaped</a:t>
            </a:r>
            <a:r>
              <a:rPr lang="en-CA" sz="6000" dirty="0"/>
              <a:t>, we’re good.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6000" dirty="0"/>
              <a:t>A </a:t>
            </a:r>
            <a:r>
              <a:rPr lang="en-CA" sz="6000" b="1" dirty="0"/>
              <a:t>Q–Q plot</a:t>
            </a:r>
            <a:r>
              <a:rPr lang="en-CA" sz="6000" dirty="0"/>
              <a:t>, which compares our actual errors to what we’d expect if they were perfectly normal.</a:t>
            </a:r>
          </a:p>
          <a:p>
            <a:r>
              <a:rPr lang="en-CA" sz="6000" dirty="0"/>
              <a:t>If the dots fall close to the </a:t>
            </a:r>
            <a:r>
              <a:rPr lang="en-CA" sz="6000" b="1" dirty="0"/>
              <a:t>diagonal line</a:t>
            </a:r>
            <a:r>
              <a:rPr lang="en-CA" sz="6000" dirty="0"/>
              <a:t>, that’s what we want — it means the errors follow a normal pattern.</a:t>
            </a:r>
            <a:br>
              <a:rPr lang="en-CA" sz="6000" dirty="0"/>
            </a:br>
            <a:r>
              <a:rPr lang="en-CA" sz="6000" i="1" dirty="0"/>
              <a:t>(Animation)</a:t>
            </a:r>
            <a:br>
              <a:rPr lang="en-CA" sz="6000" dirty="0"/>
            </a:br>
            <a:r>
              <a:rPr lang="en-CA" sz="6000" dirty="0"/>
              <a:t>But if the dots </a:t>
            </a:r>
            <a:r>
              <a:rPr lang="en-CA" sz="6000" b="1" dirty="0"/>
              <a:t>curve away from the line</a:t>
            </a:r>
            <a:r>
              <a:rPr lang="en-CA" sz="6000" dirty="0"/>
              <a:t>, especially at the ends, it suggests the errors might be </a:t>
            </a:r>
            <a:r>
              <a:rPr lang="en-CA" sz="6000" b="1" dirty="0"/>
              <a:t>skewed</a:t>
            </a:r>
            <a:r>
              <a:rPr lang="en-CA" sz="6000" dirty="0"/>
              <a:t>.</a:t>
            </a:r>
          </a:p>
          <a:p>
            <a:endParaRPr lang="en-CA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8AB87-210D-6D6B-B583-146D51809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2167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E496A-6EA2-92E9-94F9-FDBC05F32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1157C-F77F-8F74-AA32-08BB667AB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67C95-BEAA-BF38-2D46-C145CD196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7200" dirty="0"/>
              <a:t>Once we’ve confirmed that our assumptions are met, the next step is to </a:t>
            </a:r>
            <a:r>
              <a:rPr lang="en-CA" sz="7200" b="1" dirty="0"/>
              <a:t>evaluate how well our regression model explains the data</a:t>
            </a:r>
            <a:r>
              <a:rPr lang="en-CA" sz="7200" dirty="0"/>
              <a:t>.</a:t>
            </a:r>
          </a:p>
          <a:p>
            <a:endParaRPr lang="en-CA" sz="7200" dirty="0"/>
          </a:p>
          <a:p>
            <a:r>
              <a:rPr lang="en-CA" sz="7200" dirty="0"/>
              <a:t>To do that, we use two key metrics: the </a:t>
            </a:r>
            <a:r>
              <a:rPr lang="en-CA" sz="7200" b="1" dirty="0"/>
              <a:t>Root Mean Square Error (RMSE)</a:t>
            </a:r>
            <a:r>
              <a:rPr lang="en-CA" sz="7200" dirty="0"/>
              <a:t> and </a:t>
            </a:r>
            <a:r>
              <a:rPr lang="en-CA" sz="7200" b="1" dirty="0"/>
              <a:t>R²</a:t>
            </a:r>
            <a:r>
              <a:rPr lang="en-CA" sz="7200" dirty="0"/>
              <a:t>, also called the </a:t>
            </a:r>
            <a:r>
              <a:rPr lang="en-CA" sz="7200" i="1" dirty="0"/>
              <a:t>coefficient of determination</a:t>
            </a:r>
            <a:r>
              <a:rPr lang="en-CA" sz="7200" dirty="0"/>
              <a:t>.</a:t>
            </a:r>
          </a:p>
          <a:p>
            <a:endParaRPr lang="en-CA" sz="7200" dirty="0"/>
          </a:p>
          <a:p>
            <a:r>
              <a:rPr lang="en-CA" sz="7200" b="1" dirty="0"/>
              <a:t>RMSE</a:t>
            </a:r>
            <a:r>
              <a:rPr lang="en-CA" sz="7200" dirty="0"/>
              <a:t> tells us, on average, </a:t>
            </a:r>
            <a:r>
              <a:rPr lang="en-CA" sz="7200" b="1" dirty="0"/>
              <a:t>how far our predictions are from the actual values</a:t>
            </a:r>
            <a:r>
              <a:rPr lang="en-CA" sz="7200" dirty="0"/>
              <a:t>, using the same units as our response variable, so in our example, it would be in dollars.</a:t>
            </a:r>
            <a:br>
              <a:rPr lang="en-CA" sz="7200" dirty="0"/>
            </a:br>
            <a:r>
              <a:rPr lang="en-CA" sz="7200" dirty="0"/>
              <a:t>A smaller RMSE means our predictions are closer to reality — in other words, the model is </a:t>
            </a:r>
            <a:r>
              <a:rPr lang="en-CA" sz="7200" b="1" dirty="0"/>
              <a:t>more accurate</a:t>
            </a:r>
            <a:r>
              <a:rPr lang="en-CA" sz="7200" dirty="0"/>
              <a:t>.</a:t>
            </a:r>
          </a:p>
          <a:p>
            <a:endParaRPr lang="en-US" dirty="0"/>
          </a:p>
          <a:p>
            <a:r>
              <a:rPr lang="en-CA" sz="1200" dirty="0"/>
              <a:t>While RMSE focuses on prediction accuracy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50EA9-249A-A903-D669-19F520D85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54264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FC161-96C1-BAC9-7F19-92DD52A07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190D2-2E0B-927D-6A67-70E3F4752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5920E-8FBE-27C6-730D-04F5A2C7E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sz="7200" dirty="0"/>
          </a:p>
          <a:p>
            <a:r>
              <a:rPr lang="en-CA" sz="7200" b="1" dirty="0"/>
              <a:t>R²</a:t>
            </a:r>
            <a:r>
              <a:rPr lang="en-CA" sz="7200" dirty="0"/>
              <a:t> tells us </a:t>
            </a:r>
            <a:r>
              <a:rPr lang="en-CA" sz="7200" b="1" dirty="0"/>
              <a:t>how well the model explains the variation</a:t>
            </a:r>
            <a:r>
              <a:rPr lang="en-CA" sz="7200" dirty="0"/>
              <a:t> in the response variable — or how much of the change in </a:t>
            </a:r>
            <a:r>
              <a:rPr lang="en-CA" sz="7200" i="1" dirty="0"/>
              <a:t>Y</a:t>
            </a:r>
            <a:r>
              <a:rPr lang="en-CA" sz="7200" dirty="0"/>
              <a:t> can be explained by </a:t>
            </a:r>
            <a:r>
              <a:rPr lang="en-CA" sz="7200" i="1" dirty="0"/>
              <a:t>X</a:t>
            </a:r>
            <a:r>
              <a:rPr lang="en-CA" sz="7200" dirty="0"/>
              <a:t>.</a:t>
            </a:r>
            <a:br>
              <a:rPr lang="en-CA" sz="7200" dirty="0"/>
            </a:br>
            <a:r>
              <a:rPr lang="en-CA" sz="7200" dirty="0"/>
              <a:t>It ranges from 0 to 1: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7200" dirty="0"/>
              <a:t>An </a:t>
            </a:r>
            <a:r>
              <a:rPr lang="en-CA" sz="7200" b="1" dirty="0"/>
              <a:t>R² close to 1</a:t>
            </a:r>
            <a:r>
              <a:rPr lang="en-CA" sz="7200" dirty="0"/>
              <a:t> means the model explains most of the variation — the line fits the data well.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7200" dirty="0"/>
              <a:t>An </a:t>
            </a:r>
            <a:r>
              <a:rPr lang="en-CA" sz="7200" b="1" dirty="0"/>
              <a:t>R² close to 0</a:t>
            </a:r>
            <a:r>
              <a:rPr lang="en-CA" sz="7200" dirty="0"/>
              <a:t> means it explains very little — the line doesn’t capture the pattern effectively.</a:t>
            </a:r>
          </a:p>
          <a:p>
            <a:r>
              <a:rPr lang="en-CA" sz="7200" dirty="0"/>
              <a:t>In simple linear regression, </a:t>
            </a:r>
            <a:r>
              <a:rPr lang="en-CA" sz="7200" b="1" dirty="0"/>
              <a:t>R² is the square of the correlation coefficient (r)</a:t>
            </a:r>
            <a:r>
              <a:rPr lang="en-CA" sz="7200" dirty="0"/>
              <a:t>, meaning it reflects the strength of the linear relationship, but in terms of </a:t>
            </a:r>
            <a:r>
              <a:rPr lang="en-CA" sz="7200" b="1" dirty="0"/>
              <a:t>explained variance</a:t>
            </a:r>
            <a:r>
              <a:rPr lang="en-CA" sz="7200" dirty="0"/>
              <a:t>.</a:t>
            </a:r>
          </a:p>
          <a:p>
            <a:endParaRPr lang="en-CA" sz="7200" dirty="0"/>
          </a:p>
          <a:p>
            <a:r>
              <a:rPr lang="en-CA" sz="7200" dirty="0"/>
              <a:t>Together, </a:t>
            </a:r>
            <a:r>
              <a:rPr lang="en-CA" sz="7200" b="1" dirty="0"/>
              <a:t>R² and RMSE</a:t>
            </a:r>
            <a:r>
              <a:rPr lang="en-CA" sz="7200" dirty="0"/>
              <a:t> give us a complete picture of how our model performs: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7200" b="1" dirty="0"/>
              <a:t>R²</a:t>
            </a:r>
            <a:r>
              <a:rPr lang="en-CA" sz="7200" dirty="0"/>
              <a:t> shows how well the model fits the data overall.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7200" b="1" dirty="0"/>
              <a:t>RMSE</a:t>
            </a:r>
            <a:r>
              <a:rPr lang="en-CA" sz="7200" dirty="0"/>
              <a:t> tells us how accurate the predictions are, on average.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2B90A-C700-1EE7-F94A-652639559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20814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BD92-0B99-C5AE-EE03-971206FE0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459CB-F27C-E74E-30F6-EB9E38F04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D6282-3C0A-63DC-898D-378B7DD3A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Now </a:t>
            </a:r>
            <a:r>
              <a:rPr lang="en-CA" sz="1200" dirty="0"/>
              <a:t>that we know the steps conceptually, let’s see what this looks like in R.</a:t>
            </a:r>
            <a:endParaRPr lang="en-CA" sz="1000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7E1FF-2CFE-0073-D992-B46A89256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84CCC-3B07-9749-B35D-9DD2CC5B7C8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520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64662-5E3C-0147-BBB6-C3ECAFC1E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D07C9-D72B-860D-7632-7C365C81E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B8852-D598-30C4-EBE3-73D48DCD1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9600" dirty="0"/>
              <a:t>Let’s start by importing the libraries we’ll need for our analysis.</a:t>
            </a:r>
            <a:br>
              <a:rPr lang="en-CA" sz="9600" dirty="0"/>
            </a:br>
            <a:r>
              <a:rPr lang="en-CA" sz="9600" dirty="0"/>
              <a:t>The good news is that most of the packages we need are already built into R, so we don’t have to install or load very much.</a:t>
            </a:r>
          </a:p>
          <a:p>
            <a:br>
              <a:rPr lang="en-CA" sz="9600" dirty="0"/>
            </a:br>
            <a:r>
              <a:rPr lang="en-CA" sz="9600" dirty="0"/>
              <a:t>The main one we’ll be using here is </a:t>
            </a:r>
            <a:r>
              <a:rPr lang="en-CA" sz="9600" b="1" dirty="0"/>
              <a:t>ggplot2</a:t>
            </a:r>
            <a:r>
              <a:rPr lang="en-CA" sz="9600" dirty="0"/>
              <a:t>, which allows us to easily visualize our data — including the scatter plot and the  </a:t>
            </a:r>
            <a:r>
              <a:rPr lang="en-CA" sz="9600" b="1" dirty="0"/>
              <a:t>line of best fit</a:t>
            </a:r>
            <a:r>
              <a:rPr lang="en-CA" sz="9600" dirty="0"/>
              <a:t> from our regression model.</a:t>
            </a:r>
            <a:endParaRPr lang="en-CA" sz="7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16D1A-25F7-5F7C-770F-E7249A20F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45713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FFDD5-2741-AC80-2814-CE0E6D763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6BBEE-7075-A020-B4CB-80FFBED8C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6683D-EDBD-59C0-3005-803CA38C7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Let’s start by loading and previewing our dataset.</a:t>
            </a:r>
          </a:p>
          <a:p>
            <a:r>
              <a:rPr lang="en-CA" dirty="0"/>
              <a:t>“Here, We’ll use </a:t>
            </a:r>
            <a:r>
              <a:rPr lang="en-CA" dirty="0" err="1"/>
              <a:t>read.csv</a:t>
            </a:r>
            <a:r>
              <a:rPr lang="en-CA" dirty="0"/>
              <a:t>() to load in our data file and assign it to a variable called </a:t>
            </a:r>
            <a:r>
              <a:rPr lang="en-CA" dirty="0" err="1"/>
              <a:t>sacramento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Next, we use the head() function to preview the first few rows of the dataset.</a:t>
            </a:r>
            <a:br>
              <a:rPr lang="en-CA" dirty="0"/>
            </a:br>
            <a:r>
              <a:rPr lang="en-CA" dirty="0"/>
              <a:t>This helps us quickly confirm that the file loaded correctly and lets us see what variables we’re working with.</a:t>
            </a:r>
          </a:p>
          <a:p>
            <a:endParaRPr lang="en-CA" dirty="0"/>
          </a:p>
          <a:p>
            <a:r>
              <a:rPr lang="en-CA" dirty="0"/>
              <a:t>We can spot the key columns we’ll be using today — </a:t>
            </a:r>
            <a:r>
              <a:rPr lang="en-CA" b="1" dirty="0"/>
              <a:t>square footage</a:t>
            </a:r>
            <a:r>
              <a:rPr lang="en-CA" dirty="0"/>
              <a:t> as our predictor, and </a:t>
            </a:r>
            <a:r>
              <a:rPr lang="en-CA" b="1" dirty="0"/>
              <a:t>price</a:t>
            </a:r>
            <a:r>
              <a:rPr lang="en-CA" dirty="0"/>
              <a:t> as our response variable</a:t>
            </a:r>
          </a:p>
          <a:p>
            <a:endParaRPr lang="en-CA" sz="1200" dirty="0"/>
          </a:p>
          <a:p>
            <a:endParaRPr lang="en-CA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81099-7068-A057-3D9C-9F17B40C1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8873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84082-D90D-0C5B-BC4E-A75B220B1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79FC6-0DEF-C77C-6BF8-23FA1F5D8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E5D4F-4953-7AAB-4B04-9E8B3D8C8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Now that we’ve loaded in our data, let’s </a:t>
            </a:r>
            <a:r>
              <a:rPr lang="en-CA" b="1" dirty="0"/>
              <a:t>look the relationship</a:t>
            </a:r>
            <a:r>
              <a:rPr lang="en-CA" dirty="0"/>
              <a:t> between house size and sale price.</a:t>
            </a:r>
          </a:p>
          <a:p>
            <a:endParaRPr lang="en-CA" dirty="0"/>
          </a:p>
          <a:p>
            <a:r>
              <a:rPr lang="en-CA" dirty="0"/>
              <a:t>Here, we’re using the </a:t>
            </a:r>
            <a:r>
              <a:rPr lang="en-CA" dirty="0" err="1"/>
              <a:t>cor</a:t>
            </a:r>
            <a:r>
              <a:rPr lang="en-CA" dirty="0"/>
              <a:t>() function to calculate </a:t>
            </a:r>
            <a:r>
              <a:rPr lang="en-CA" b="1" dirty="0"/>
              <a:t>Pearson’s correlation coefficient</a:t>
            </a:r>
            <a:r>
              <a:rPr lang="en-CA" dirty="0"/>
              <a:t> between the variables </a:t>
            </a:r>
            <a:r>
              <a:rPr lang="en-CA" dirty="0" err="1"/>
              <a:t>sq__ft</a:t>
            </a:r>
            <a:r>
              <a:rPr lang="en-CA" dirty="0"/>
              <a:t> and price.</a:t>
            </a:r>
            <a:br>
              <a:rPr lang="en-CA" dirty="0"/>
            </a:br>
            <a:r>
              <a:rPr lang="en-CA" dirty="0"/>
              <a:t>This gives us a single number that tells us both the </a:t>
            </a:r>
            <a:r>
              <a:rPr lang="en-CA" b="1" dirty="0"/>
              <a:t>strength</a:t>
            </a:r>
            <a:r>
              <a:rPr lang="en-CA" dirty="0"/>
              <a:t> and </a:t>
            </a:r>
            <a:r>
              <a:rPr lang="en-CA" b="1" dirty="0"/>
              <a:t>direction</a:t>
            </a:r>
            <a:r>
              <a:rPr lang="en-CA" dirty="0"/>
              <a:t> of the relationship between these two variables.</a:t>
            </a:r>
          </a:p>
          <a:p>
            <a:endParaRPr lang="en-CA" dirty="0"/>
          </a:p>
          <a:p>
            <a:r>
              <a:rPr lang="en-CA" dirty="0"/>
              <a:t>When we run this, we get a correlation of </a:t>
            </a:r>
            <a:r>
              <a:rPr lang="en-CA" b="1" dirty="0"/>
              <a:t>0.73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That’s a strong positive correlation, meaning that as house size increases, sale price tends to increase as well.</a:t>
            </a:r>
          </a:p>
          <a:p>
            <a:br>
              <a:rPr lang="en-CA" dirty="0"/>
            </a:br>
            <a:r>
              <a:rPr lang="en-CA" dirty="0"/>
              <a:t>It’s important to note that </a:t>
            </a:r>
            <a:r>
              <a:rPr lang="en-CA" b="1" dirty="0"/>
              <a:t>correlation doesn’t imply causation</a:t>
            </a:r>
            <a:r>
              <a:rPr lang="en-CA" dirty="0"/>
              <a:t> — it just tells us that the two variables move together in a consistent pattern.</a:t>
            </a:r>
          </a:p>
          <a:p>
            <a:endParaRPr lang="en-CA" dirty="0"/>
          </a:p>
          <a:p>
            <a:r>
              <a:rPr lang="en-CA" dirty="0"/>
              <a:t>Now, let’s take a closer look at that relationship visually with a </a:t>
            </a:r>
            <a:r>
              <a:rPr lang="en-CA" b="1" dirty="0"/>
              <a:t>scatter plot!</a:t>
            </a:r>
            <a:endParaRPr lang="en-CA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A5D88-1E10-74DC-DE9B-627F3E92A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4196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C4B46-B3AC-B6C5-F6EA-5FE47D31A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5B74A-77A3-31D2-9AC8-9BF3A7ECD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550608-53B4-2A50-ED35-22A59902E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Here, we’re using </a:t>
            </a:r>
            <a:r>
              <a:rPr lang="en-CA" b="1" dirty="0" err="1"/>
              <a:t>ggplot</a:t>
            </a:r>
            <a:r>
              <a:rPr lang="en-CA" dirty="0"/>
              <a:t> to visualize the relationship between house size and sale price.</a:t>
            </a:r>
          </a:p>
          <a:p>
            <a:br>
              <a:rPr lang="en-CA" dirty="0"/>
            </a:br>
            <a:r>
              <a:rPr lang="en-CA" dirty="0"/>
              <a:t>We’re plotting </a:t>
            </a:r>
            <a:r>
              <a:rPr lang="en-CA" b="1" dirty="0"/>
              <a:t>house size on the x-axis</a:t>
            </a:r>
            <a:r>
              <a:rPr lang="en-CA" dirty="0"/>
              <a:t> and </a:t>
            </a:r>
            <a:r>
              <a:rPr lang="en-CA" b="1" dirty="0"/>
              <a:t>house price on the y-axis</a:t>
            </a:r>
            <a:r>
              <a:rPr lang="en-CA" dirty="0"/>
              <a:t>, where each point represents a single home in our dataset.</a:t>
            </a:r>
          </a:p>
          <a:p>
            <a:endParaRPr lang="en-CA" dirty="0"/>
          </a:p>
          <a:p>
            <a:r>
              <a:rPr lang="en-CA" dirty="0"/>
              <a:t>We start by adding a layer to specify a </a:t>
            </a:r>
            <a:r>
              <a:rPr lang="en-CA" b="1" dirty="0"/>
              <a:t>scatter plot</a:t>
            </a:r>
            <a:r>
              <a:rPr lang="en-CA" dirty="0"/>
              <a:t> using the </a:t>
            </a:r>
            <a:r>
              <a:rPr lang="en-CA" dirty="0" err="1"/>
              <a:t>geom_point</a:t>
            </a:r>
            <a:r>
              <a:rPr lang="en-CA" dirty="0"/>
              <a:t>() </a:t>
            </a:r>
            <a:r>
              <a:rPr lang="en-CA" dirty="0" err="1"/>
              <a:t>functionl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From the plot, we can see that strong positive correlation and that the </a:t>
            </a:r>
            <a:r>
              <a:rPr lang="en-CA" b="1" dirty="0"/>
              <a:t>assumption of linearity</a:t>
            </a:r>
            <a:r>
              <a:rPr lang="en-CA" dirty="0"/>
              <a:t> is </a:t>
            </a:r>
            <a:r>
              <a:rPr lang="en-CA" b="1" dirty="0"/>
              <a:t>reasonably met</a:t>
            </a:r>
            <a:r>
              <a:rPr lang="en-CA" dirty="0"/>
              <a:t>, meaning a linear model should be appropriate for capturing this relationship.</a:t>
            </a:r>
          </a:p>
          <a:p>
            <a:br>
              <a:rPr lang="en-CA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006F9-0CA4-C896-2BB8-B8062A312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60136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B9910-8C5C-6282-1455-B0D527AE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1563A-CCAD-EC3D-2997-DFCDA7F98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151C6-8419-9ED2-EECB-1CC6BEC31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Great! Now that our assumption of linearity is met, the next step is to build a model that lets us </a:t>
            </a:r>
            <a:r>
              <a:rPr lang="en-CA" i="1" dirty="0"/>
              <a:t>predict</a:t>
            </a:r>
            <a:r>
              <a:rPr lang="en-CA" dirty="0"/>
              <a:t> price based on size.</a:t>
            </a:r>
          </a:p>
          <a:p>
            <a:r>
              <a:rPr lang="en-CA" dirty="0"/>
              <a:t>We can do that using </a:t>
            </a:r>
            <a:r>
              <a:rPr lang="en-CA" b="1" dirty="0"/>
              <a:t>simple linear regression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In R, the function </a:t>
            </a:r>
            <a:r>
              <a:rPr lang="en-CA" dirty="0" err="1"/>
              <a:t>lm</a:t>
            </a:r>
            <a:r>
              <a:rPr lang="en-CA" dirty="0"/>
              <a:t>() stands for </a:t>
            </a:r>
            <a:r>
              <a:rPr lang="en-CA" i="1" dirty="0"/>
              <a:t>linear model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The syntax follows the form y ~ x, which reads as ‘predict </a:t>
            </a:r>
            <a:r>
              <a:rPr lang="en-CA" i="1" dirty="0"/>
              <a:t>y</a:t>
            </a:r>
            <a:r>
              <a:rPr lang="en-CA" dirty="0"/>
              <a:t> from </a:t>
            </a:r>
            <a:r>
              <a:rPr lang="en-CA" i="1" dirty="0"/>
              <a:t>x</a:t>
            </a:r>
            <a:r>
              <a:rPr lang="en-CA" dirty="0"/>
              <a:t>.’</a:t>
            </a:r>
          </a:p>
          <a:p>
            <a:br>
              <a:rPr lang="en-CA" dirty="0"/>
            </a:br>
            <a:r>
              <a:rPr lang="en-CA" dirty="0"/>
              <a:t>Here, we’re predicting </a:t>
            </a:r>
            <a:r>
              <a:rPr lang="en-CA" b="1" dirty="0"/>
              <a:t>price</a:t>
            </a:r>
            <a:r>
              <a:rPr lang="en-CA" dirty="0"/>
              <a:t> from </a:t>
            </a:r>
            <a:r>
              <a:rPr lang="en-CA" b="1" dirty="0"/>
              <a:t>square footage</a:t>
            </a:r>
            <a:r>
              <a:rPr lang="en-CA" dirty="0"/>
              <a:t>.</a:t>
            </a:r>
          </a:p>
          <a:p>
            <a:r>
              <a:rPr lang="en-CA" dirty="0"/>
              <a:t>When we run this code, we are storing out model output in an object or variable called lin_reg.</a:t>
            </a:r>
          </a:p>
          <a:p>
            <a:br>
              <a:rPr lang="en-CA" dirty="0"/>
            </a:br>
            <a:r>
              <a:rPr lang="en-CA" dirty="0"/>
              <a:t>It automatically calculates several key components — things like coefficients, residuals, or errors — and stores them inside this object.</a:t>
            </a:r>
          </a:p>
          <a:p>
            <a:endParaRPr lang="en-CA" dirty="0"/>
          </a:p>
          <a:p>
            <a:r>
              <a:rPr lang="en-CA" dirty="0"/>
              <a:t>If we check the coefficients component by indexing it, we can see the two main numbers that define our line of best fit: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The </a:t>
            </a:r>
            <a:r>
              <a:rPr lang="en-CA" b="1" dirty="0"/>
              <a:t>intercept</a:t>
            </a:r>
            <a:r>
              <a:rPr lang="en-CA" dirty="0"/>
              <a:t>, about </a:t>
            </a:r>
            <a:r>
              <a:rPr lang="en-CA" b="1" dirty="0"/>
              <a:t>16,200</a:t>
            </a:r>
            <a:r>
              <a:rPr lang="en-CA" dirty="0"/>
              <a:t>, 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The </a:t>
            </a:r>
            <a:r>
              <a:rPr lang="en-CA" b="1" dirty="0"/>
              <a:t>slope</a:t>
            </a:r>
            <a:r>
              <a:rPr lang="en-CA" dirty="0"/>
              <a:t>, about </a:t>
            </a:r>
            <a:r>
              <a:rPr lang="en-CA" b="1" dirty="0"/>
              <a:t>135</a:t>
            </a:r>
            <a:r>
              <a:rPr lang="en-CA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CA" dirty="0"/>
              <a:t>This means that the base price for 0 sq ft is 16,200 and for every additional square foot, the model predicts the price will increase by roughly </a:t>
            </a:r>
            <a:r>
              <a:rPr lang="en-CA" b="1" dirty="0"/>
              <a:t>$135</a:t>
            </a:r>
            <a:r>
              <a:rPr lang="en-CA" dirty="0"/>
              <a:t>.”</a:t>
            </a:r>
          </a:p>
          <a:p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Great! </a:t>
            </a:r>
            <a:r>
              <a:rPr lang="en-CA" dirty="0"/>
              <a:t>Now that we’ve built our regression model, let’s take a look at what that relationship actually looks like.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E4C27-9831-9BBB-AFDA-68338462D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86891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E75CF-95A1-A27D-563F-1BFAA148E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D1509-BC2E-5624-F272-C3162CA7E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E4410-E96E-88C1-EA0B-2E7FD912D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Here, we’re creating a scatter plot with </a:t>
            </a:r>
            <a:r>
              <a:rPr lang="en-CA" b="1" dirty="0"/>
              <a:t>house size</a:t>
            </a:r>
            <a:r>
              <a:rPr lang="en-CA" dirty="0"/>
              <a:t> on the x-axis and </a:t>
            </a:r>
            <a:r>
              <a:rPr lang="en-CA" b="1" dirty="0"/>
              <a:t>house price</a:t>
            </a:r>
            <a:r>
              <a:rPr lang="en-CA" dirty="0"/>
              <a:t> on the y-axis, just as before. But now we are this additional layer</a:t>
            </a:r>
          </a:p>
          <a:p>
            <a:br>
              <a:rPr lang="en-CA" dirty="0"/>
            </a:br>
            <a:r>
              <a:rPr lang="en-CA" dirty="0"/>
              <a:t>for our </a:t>
            </a:r>
            <a:r>
              <a:rPr lang="en-CA" b="1" dirty="0"/>
              <a:t>regression line</a:t>
            </a:r>
            <a:r>
              <a:rPr lang="en-CA" dirty="0"/>
              <a:t> using </a:t>
            </a:r>
            <a:r>
              <a:rPr lang="en-CA" dirty="0" err="1"/>
              <a:t>geom_smooth</a:t>
            </a:r>
            <a:r>
              <a:rPr lang="en-CA" dirty="0"/>
              <a:t>(), with the argument </a:t>
            </a:r>
            <a:r>
              <a:rPr lang="en-CA" b="1" dirty="0"/>
              <a:t>method = "</a:t>
            </a:r>
            <a:r>
              <a:rPr lang="en-CA" b="1" dirty="0" err="1"/>
              <a:t>lm</a:t>
            </a:r>
            <a:r>
              <a:rPr lang="en-CA" b="1" dirty="0"/>
              <a:t>"</a:t>
            </a:r>
            <a:r>
              <a:rPr lang="en-CA" dirty="0"/>
              <a:t> — that tells R to fit a </a:t>
            </a:r>
            <a:r>
              <a:rPr lang="en-CA" b="1" dirty="0"/>
              <a:t>linear model</a:t>
            </a:r>
            <a:r>
              <a:rPr lang="en-CA" dirty="0"/>
              <a:t>.</a:t>
            </a:r>
          </a:p>
          <a:p>
            <a:br>
              <a:rPr lang="en-CA" dirty="0"/>
            </a:br>
            <a:r>
              <a:rPr lang="en-CA" dirty="0"/>
              <a:t>The line of best fit shows the general upward trend, indicating that larger houses are typically result in a higher prices.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39FF2-5A01-654B-365D-AA2461016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66974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11970-53DC-A399-FE4D-D1B5E4573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B3E59-EA66-93F1-A494-666E5F88D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026E8-3BBB-8DD7-A515-5B0D398FD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Before we look at how well our model performs, we need to double-check that our assumptions of constant variance and normality of errors hold true.</a:t>
            </a:r>
          </a:p>
          <a:p>
            <a:br>
              <a:rPr lang="en-CA" dirty="0"/>
            </a:br>
            <a:r>
              <a:rPr lang="en-CA" dirty="0"/>
              <a:t>Luckily, R makes this really easy — we can just use the plot() function on our model object to generate diagnostic plots that show us exactly that.</a:t>
            </a:r>
          </a:p>
          <a:p>
            <a:endParaRPr lang="en-CA" dirty="0"/>
          </a:p>
          <a:p>
            <a:r>
              <a:rPr lang="en-CA" dirty="0"/>
              <a:t>We’ll focus on the </a:t>
            </a:r>
            <a:r>
              <a:rPr lang="en-CA" b="1" dirty="0"/>
              <a:t>first two diagnostic plots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The first is the </a:t>
            </a:r>
            <a:r>
              <a:rPr lang="en-CA" b="1" dirty="0"/>
              <a:t>Residuals vs Fitted</a:t>
            </a:r>
            <a:r>
              <a:rPr lang="en-CA" dirty="0"/>
              <a:t> ( or predicted y values) which allows us check for </a:t>
            </a:r>
            <a:r>
              <a:rPr lang="en-CA" b="1" dirty="0"/>
              <a:t>constant variance.</a:t>
            </a:r>
          </a:p>
          <a:p>
            <a:endParaRPr lang="en-CA" b="1" dirty="0"/>
          </a:p>
          <a:p>
            <a:r>
              <a:rPr lang="en-CA" dirty="0"/>
              <a:t>The spread of residuals looks fairly consistent across predicted values. There are a few points that do stand out, but they don’t seem to strongly affect the overall pattern.</a:t>
            </a:r>
          </a:p>
          <a:p>
            <a:endParaRPr lang="en-CA" dirty="0"/>
          </a:p>
          <a:p>
            <a:r>
              <a:rPr lang="en-CA" dirty="0"/>
              <a:t> So, overall the assumption appears to hold.</a:t>
            </a:r>
          </a:p>
          <a:p>
            <a:br>
              <a:rPr lang="en-CA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98DCF-02AE-6687-9866-6ED6EE886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58272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5155B-1723-3BCB-CAE6-FF905280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F8445-D512-C379-C077-592191171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DE05A-6130-091E-7033-BDE6CBAA0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The second plot is the </a:t>
            </a:r>
            <a:r>
              <a:rPr lang="en-CA" b="1" dirty="0"/>
              <a:t>Normal Q–Q plot</a:t>
            </a:r>
            <a:r>
              <a:rPr lang="en-CA" dirty="0"/>
              <a:t> which allows us see whether the </a:t>
            </a:r>
            <a:r>
              <a:rPr lang="en-CA" b="1" dirty="0"/>
              <a:t>residuals are approximately normally distributed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Most points fall close to the diagonal line, which indicates that the </a:t>
            </a:r>
            <a:r>
              <a:rPr lang="en-CA" b="1" dirty="0"/>
              <a:t>residuals are roughly normally distributed, 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small deviations from normality like the ones seen here are usually not a major issue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22D67-F86F-E1A2-5C75-6179BAD06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37827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1D00-3610-D2CB-FEF7-AC251EAC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6E01D-4DFD-A5EA-DA0D-35ACA84C3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3669D-BF2A-F322-FC60-BF557EE38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4000" dirty="0"/>
              <a:t>Once we’ve confirmed our model assumptions, we can evaluate how </a:t>
            </a:r>
            <a:r>
              <a:rPr lang="en-CA" sz="4000" i="1" dirty="0"/>
              <a:t>accurate</a:t>
            </a:r>
            <a:r>
              <a:rPr lang="en-CA" sz="4000" dirty="0"/>
              <a:t> our predictions are on average.</a:t>
            </a:r>
          </a:p>
          <a:p>
            <a:endParaRPr lang="en-CA" sz="4000" dirty="0"/>
          </a:p>
          <a:p>
            <a:r>
              <a:rPr lang="en-CA" sz="4000" dirty="0"/>
              <a:t>We can measure that using the </a:t>
            </a:r>
            <a:r>
              <a:rPr lang="en-CA" sz="4000" b="1" dirty="0"/>
              <a:t>Root Mean Squared Error</a:t>
            </a:r>
          </a:p>
          <a:p>
            <a:endParaRPr lang="en-CA" sz="4000" dirty="0"/>
          </a:p>
          <a:p>
            <a:r>
              <a:rPr lang="en-CA" sz="4000" dirty="0"/>
              <a:t>Here’s how it works:</a:t>
            </a:r>
          </a:p>
          <a:p>
            <a:pPr>
              <a:buFont typeface="+mj-lt"/>
              <a:buAutoNum type="arabicPeriod"/>
            </a:pPr>
            <a:r>
              <a:rPr lang="en-CA" sz="4000" dirty="0"/>
              <a:t>First, we take the </a:t>
            </a:r>
            <a:r>
              <a:rPr lang="en-CA" sz="4000" b="1" dirty="0"/>
              <a:t>residuals</a:t>
            </a:r>
            <a:r>
              <a:rPr lang="en-CA" sz="4000" dirty="0"/>
              <a:t>, or are errors, so the differences between our predicted prices and the actual sale prices.</a:t>
            </a:r>
          </a:p>
          <a:p>
            <a:pPr>
              <a:buFont typeface="+mj-lt"/>
              <a:buAutoNum type="arabicPeriod"/>
            </a:pPr>
            <a:r>
              <a:rPr lang="en-CA" sz="4000" dirty="0"/>
              <a:t>Then we </a:t>
            </a:r>
            <a:r>
              <a:rPr lang="en-CA" sz="4000" b="1" dirty="0"/>
              <a:t>square</a:t>
            </a:r>
            <a:r>
              <a:rPr lang="en-CA" sz="4000" dirty="0"/>
              <a:t> those residuals — this makes all the errors positive and gives more weight to larger mistakes.</a:t>
            </a:r>
          </a:p>
          <a:p>
            <a:pPr>
              <a:buFont typeface="+mj-lt"/>
              <a:buAutoNum type="arabicPeriod"/>
            </a:pPr>
            <a:r>
              <a:rPr lang="en-CA" sz="4000" dirty="0"/>
              <a:t>Next, we find the </a:t>
            </a:r>
            <a:r>
              <a:rPr lang="en-CA" sz="4000" b="1" dirty="0"/>
              <a:t>average</a:t>
            </a:r>
            <a:r>
              <a:rPr lang="en-CA" sz="4000" dirty="0"/>
              <a:t> of those squared errors using the mean function</a:t>
            </a:r>
          </a:p>
          <a:p>
            <a:pPr>
              <a:buFont typeface="+mj-lt"/>
              <a:buAutoNum type="arabicPeriod"/>
            </a:pPr>
            <a:r>
              <a:rPr lang="en-CA" sz="4000" dirty="0"/>
              <a:t>And finally, we take the </a:t>
            </a:r>
            <a:r>
              <a:rPr lang="en-CA" sz="4000" b="1" dirty="0"/>
              <a:t>square root</a:t>
            </a:r>
            <a:r>
              <a:rPr lang="en-CA" sz="4000" dirty="0"/>
              <a:t> using the square root function to bring the number back to the original units — in this case, dollars.</a:t>
            </a:r>
          </a:p>
          <a:p>
            <a:pPr>
              <a:buFont typeface="+mj-lt"/>
              <a:buAutoNum type="arabicPeriod"/>
            </a:pPr>
            <a:endParaRPr lang="en-CA" sz="4000" dirty="0"/>
          </a:p>
          <a:p>
            <a:r>
              <a:rPr lang="en-CA" sz="4000" dirty="0"/>
              <a:t>When we do that, we get an RMSE of about </a:t>
            </a:r>
            <a:r>
              <a:rPr lang="en-CA" sz="4000" b="1" dirty="0"/>
              <a:t>$82,000</a:t>
            </a:r>
            <a:r>
              <a:rPr lang="en-CA" sz="4000" dirty="0"/>
              <a:t>.”</a:t>
            </a:r>
          </a:p>
          <a:p>
            <a:r>
              <a:rPr lang="en-CA" sz="4000" dirty="0"/>
              <a:t>That means, on average, our model’s predictions are about </a:t>
            </a:r>
            <a:r>
              <a:rPr lang="en-CA" sz="4000" b="1" dirty="0"/>
              <a:t>$82,000 off</a:t>
            </a:r>
            <a:r>
              <a:rPr lang="en-CA" sz="4000" dirty="0"/>
              <a:t> from the true sale prices.</a:t>
            </a:r>
          </a:p>
          <a:p>
            <a:br>
              <a:rPr lang="en-CA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E185A-B60A-6EFD-8C30-55839EDC7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62702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02469-6DB5-8573-ED88-3ED4EF5BD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20525A-C8E5-B51B-A3AF-533749C51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B0F54-7BA5-A40D-5B1D-573F797AA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dirty="0"/>
              <a:t>Now let’s look at R2 to see  we know how much variation in house price our model explains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  <a:p>
            <a:r>
              <a:rPr lang="en-CA" dirty="0"/>
              <a:t>We can access it by calling the summary function on our model object — which calculates several derived statistics, including this R squared component that we could index.”</a:t>
            </a:r>
            <a:br>
              <a:rPr lang="en-CA" dirty="0"/>
            </a:br>
            <a:endParaRPr lang="en-CA" dirty="0"/>
          </a:p>
          <a:p>
            <a:r>
              <a:rPr lang="en-CA" dirty="0"/>
              <a:t>We can actually verify that value — if we square our correlation coefficient from earlier, we get the same result.</a:t>
            </a:r>
            <a:br>
              <a:rPr lang="en-CA" dirty="0"/>
            </a:br>
            <a:r>
              <a:rPr lang="en-CA" dirty="0"/>
              <a:t>That’s because in </a:t>
            </a:r>
            <a:r>
              <a:rPr lang="en-CA" b="1" dirty="0"/>
              <a:t>simple linear regression</a:t>
            </a:r>
            <a:r>
              <a:rPr lang="en-CA" dirty="0"/>
              <a:t>, R² is literally the square of the correlation coefficient , as we talked about.”</a:t>
            </a:r>
          </a:p>
          <a:p>
            <a:endParaRPr lang="en-CA" dirty="0"/>
          </a:p>
          <a:p>
            <a:r>
              <a:rPr lang="en-CA" dirty="0"/>
              <a:t>So, what does 0.53 mean in practical terms?</a:t>
            </a:r>
            <a:br>
              <a:rPr lang="en-CA" dirty="0"/>
            </a:br>
            <a:r>
              <a:rPr lang="en-CA" dirty="0"/>
              <a:t>It tells us that </a:t>
            </a:r>
            <a:r>
              <a:rPr lang="en-CA" b="1" dirty="0"/>
              <a:t>about half of the differences in house prices</a:t>
            </a:r>
            <a:r>
              <a:rPr lang="en-CA" dirty="0"/>
              <a:t> can be explained by house size alone, which is </a:t>
            </a:r>
            <a:r>
              <a:rPr lang="en-CA"/>
              <a:t>pretty great for a single predictor!</a:t>
            </a:r>
            <a:endParaRPr lang="en-CA" dirty="0"/>
          </a:p>
          <a:p>
            <a:endParaRPr lang="en-CA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32BCD-1A56-D0F9-C01E-16E634748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01647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Let’s end off by quickly reviewing a </a:t>
            </a:r>
            <a:r>
              <a:rPr lang="en-CA" b="1" dirty="0"/>
              <a:t>concept map</a:t>
            </a:r>
            <a:r>
              <a:rPr lang="en-CA" dirty="0"/>
              <a:t> of the key ideas we covered in today’s demonstration.</a:t>
            </a:r>
          </a:p>
          <a:p>
            <a:r>
              <a:rPr lang="en-CA" dirty="0"/>
              <a:t>We started with the idea of </a:t>
            </a:r>
            <a:r>
              <a:rPr lang="en-CA" b="1" dirty="0"/>
              <a:t>linear regression</a:t>
            </a:r>
            <a:r>
              <a:rPr lang="en-CA" dirty="0"/>
              <a:t>, which fits a </a:t>
            </a:r>
            <a:r>
              <a:rPr lang="en-CA" b="1" dirty="0"/>
              <a:t>straight line</a:t>
            </a:r>
            <a:r>
              <a:rPr lang="en-CA" dirty="0"/>
              <a:t> to model the relationship between two numeric variables — an </a:t>
            </a:r>
            <a:r>
              <a:rPr lang="en-CA" b="1" dirty="0"/>
              <a:t>x</a:t>
            </a:r>
            <a:r>
              <a:rPr lang="en-CA" dirty="0"/>
              <a:t> (predictor) and a </a:t>
            </a:r>
            <a:r>
              <a:rPr lang="en-CA" b="1" dirty="0"/>
              <a:t>y</a:t>
            </a:r>
            <a:r>
              <a:rPr lang="en-CA" dirty="0"/>
              <a:t> (response).</a:t>
            </a:r>
          </a:p>
          <a:p>
            <a:endParaRPr lang="en-CA" dirty="0"/>
          </a:p>
          <a:p>
            <a:r>
              <a:rPr lang="en-CA" dirty="0"/>
              <a:t>Specifically, linear regression uses information about the </a:t>
            </a:r>
            <a:r>
              <a:rPr lang="en-CA" b="1" dirty="0"/>
              <a:t>predictor variable</a:t>
            </a:r>
            <a:r>
              <a:rPr lang="en-CA" dirty="0"/>
              <a:t> to make </a:t>
            </a:r>
            <a:r>
              <a:rPr lang="en-CA" b="1" dirty="0"/>
              <a:t>predictions</a:t>
            </a:r>
            <a:r>
              <a:rPr lang="en-CA" dirty="0"/>
              <a:t> for the </a:t>
            </a:r>
            <a:r>
              <a:rPr lang="en-CA" b="1" dirty="0"/>
              <a:t>numeric response variable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We then looked at </a:t>
            </a:r>
            <a:r>
              <a:rPr lang="en-CA" b="1" dirty="0"/>
              <a:t>how to evaluate</a:t>
            </a:r>
            <a:r>
              <a:rPr lang="en-CA" dirty="0"/>
              <a:t> our model’s performance in two main ways: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First, using the </a:t>
            </a:r>
            <a:r>
              <a:rPr lang="en-CA" b="1" dirty="0"/>
              <a:t>Root Mean Squared Error (RMSE)</a:t>
            </a:r>
            <a:r>
              <a:rPr lang="en-CA" dirty="0"/>
              <a:t>, which tells us the </a:t>
            </a:r>
            <a:r>
              <a:rPr lang="en-CA" b="1" dirty="0"/>
              <a:t>average prediction error</a:t>
            </a:r>
            <a:r>
              <a:rPr lang="en-CA" dirty="0"/>
              <a:t> — how far off our predictions are, on average, from the true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And second, using the </a:t>
            </a:r>
            <a:r>
              <a:rPr lang="en-CA" b="1" dirty="0"/>
              <a:t>Coefficient of Determination (R²)</a:t>
            </a:r>
            <a:r>
              <a:rPr lang="en-CA" dirty="0"/>
              <a:t>, which tells us </a:t>
            </a:r>
            <a:r>
              <a:rPr lang="en-CA" b="1" dirty="0"/>
              <a:t>how much of the variation</a:t>
            </a:r>
            <a:r>
              <a:rPr lang="en-CA" dirty="0"/>
              <a:t> in our response variable is </a:t>
            </a:r>
            <a:r>
              <a:rPr lang="en-CA" b="1" dirty="0"/>
              <a:t>explained by our model</a:t>
            </a:r>
            <a:r>
              <a:rPr lang="en-CA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CA" dirty="0"/>
              <a:t>Importantly, in simple linear regression, </a:t>
            </a:r>
            <a:r>
              <a:rPr lang="en-CA" b="1" dirty="0"/>
              <a:t>R² is directly related to Pearson’s correlation coefficient</a:t>
            </a:r>
            <a:r>
              <a:rPr lang="en-CA" dirty="0"/>
              <a:t> — it’s actually the </a:t>
            </a:r>
            <a:r>
              <a:rPr lang="en-CA" b="1" dirty="0"/>
              <a:t>square of r</a:t>
            </a:r>
            <a:r>
              <a:rPr lang="en-CA" dirty="0"/>
              <a:t>.</a:t>
            </a:r>
          </a:p>
          <a:p>
            <a:r>
              <a:rPr lang="en-CA" dirty="0"/>
              <a:t>So together, these concepts help us understand both </a:t>
            </a:r>
            <a:r>
              <a:rPr lang="en-CA" b="1" dirty="0"/>
              <a:t>how well two variables are related</a:t>
            </a:r>
            <a:r>
              <a:rPr lang="en-CA" dirty="0"/>
              <a:t> and </a:t>
            </a:r>
            <a:r>
              <a:rPr lang="en-CA" b="1" dirty="0"/>
              <a:t>how accurately we can use one to predict the other</a:t>
            </a:r>
            <a:r>
              <a:rPr lang="en-CA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654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again, </a:t>
            </a:r>
            <a:r>
              <a:rPr lang="en-CA" dirty="0"/>
              <a:t>if you’d like to explore these materials later, I’ve shared everything in my GitHub repository. You can scan the QR code on the slide to access it directly!</a:t>
            </a:r>
          </a:p>
          <a:p>
            <a:r>
              <a:rPr lang="en-CA" dirty="0"/>
              <a:t>Thank you so much and id be happy to take any questions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30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Everything we’ve covered today — </a:t>
            </a:r>
            <a:r>
              <a:rPr lang="en-CA" b="1" dirty="0"/>
              <a:t>correlation</a:t>
            </a:r>
            <a:r>
              <a:rPr lang="en-CA" dirty="0"/>
              <a:t>, </a:t>
            </a:r>
            <a:r>
              <a:rPr lang="en-CA" b="1" dirty="0"/>
              <a:t>simple linear regression</a:t>
            </a:r>
            <a:r>
              <a:rPr lang="en-CA" dirty="0"/>
              <a:t>,— forms the foundation of how we understand and model relationships between numeric variables.</a:t>
            </a:r>
          </a:p>
          <a:p>
            <a:endParaRPr lang="en-CA" dirty="0"/>
          </a:p>
          <a:p>
            <a:r>
              <a:rPr lang="en-CA" dirty="0"/>
              <a:t>It’s worth noting that there are also </a:t>
            </a:r>
            <a:r>
              <a:rPr lang="en-CA" b="1" dirty="0"/>
              <a:t>extensions</a:t>
            </a:r>
            <a:r>
              <a:rPr lang="en-CA" dirty="0"/>
              <a:t> that allow us to model more complex patterns in data.</a:t>
            </a:r>
            <a:br>
              <a:rPr lang="en-CA" dirty="0"/>
            </a:br>
            <a:r>
              <a:rPr lang="en-CA" dirty="0"/>
              <a:t>These are </a:t>
            </a:r>
            <a:r>
              <a:rPr lang="en-CA" b="1" dirty="0"/>
              <a:t>beyond the scope</a:t>
            </a:r>
            <a:r>
              <a:rPr lang="en-CA" dirty="0"/>
              <a:t> of today’s session, but here’s a quick preview: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We can </a:t>
            </a:r>
            <a:r>
              <a:rPr lang="en-CA" b="1" dirty="0"/>
              <a:t>include categorical predictors</a:t>
            </a:r>
            <a:r>
              <a:rPr lang="en-CA" dirty="0"/>
              <a:t>, such as the </a:t>
            </a:r>
            <a:r>
              <a:rPr lang="en-CA" b="1" dirty="0"/>
              <a:t>type of home</a:t>
            </a:r>
            <a:r>
              <a:rPr lang="en-CA" dirty="0"/>
              <a:t> — for instance, Residential, Multi-family, or Condo.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We can </a:t>
            </a:r>
            <a:r>
              <a:rPr lang="en-CA" b="1" dirty="0"/>
              <a:t>add multiple predictors</a:t>
            </a:r>
            <a:r>
              <a:rPr lang="en-CA" dirty="0"/>
              <a:t>, also known as multivariable linear regression, so combining </a:t>
            </a:r>
            <a:r>
              <a:rPr lang="en-CA" b="1" dirty="0"/>
              <a:t>house size</a:t>
            </a:r>
            <a:r>
              <a:rPr lang="en-CA" dirty="0"/>
              <a:t> and maybe  </a:t>
            </a:r>
            <a:r>
              <a:rPr lang="en-CA" b="1" dirty="0"/>
              <a:t>number of bedrooms</a:t>
            </a:r>
            <a:r>
              <a:rPr lang="en-CA" dirty="0"/>
              <a:t> to improve our predictions.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And we can </a:t>
            </a:r>
            <a:r>
              <a:rPr lang="en-CA" b="1" dirty="0"/>
              <a:t>model non-linear relationships</a:t>
            </a:r>
            <a:r>
              <a:rPr lang="en-CA" dirty="0"/>
              <a:t>, where the trend in the data curves rather than forms a straight line.</a:t>
            </a:r>
          </a:p>
          <a:p>
            <a:r>
              <a:rPr lang="en-CA" dirty="0"/>
              <a:t>These techniques build on the same core ideas we explored in this demonstration — just extended to capture more complex real-world relationships.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403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72BF9-EDF6-6027-6DA6-AE75F1E92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54781-E897-27B0-75F9-C44C574DC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5BFAB-E33B-6CCC-300B-6778C6D1E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Like in our clustering demonstration, </a:t>
            </a:r>
            <a:r>
              <a:rPr lang="en-CA" dirty="0"/>
              <a:t>before we jump into any analysis or modeling, it’s really important to take time to </a:t>
            </a:r>
            <a:r>
              <a:rPr lang="en-CA" b="1" dirty="0"/>
              <a:t>explore our data</a:t>
            </a:r>
            <a:r>
              <a:rPr lang="en-CA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86654-0E5B-7FF5-C248-E4A0966999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82888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CAEFC-1A4C-321F-2F83-8206194B3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68913-7E60-DB53-DD4C-0D410721A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7768D-A74A-78C6-F52F-8B49891DC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Now that we’ve loaded our dataset, let’s take a closer look. we can use the </a:t>
            </a:r>
            <a:r>
              <a:rPr lang="en-CA" sz="1200" b="0" i="0" u="none" strike="noStrike" dirty="0">
                <a:solidFill>
                  <a:srgbClr val="188038"/>
                </a:solidFill>
                <a:effectLst/>
                <a:latin typeface="Roboto Mono" pitchFamily="49" charset="0"/>
              </a:rPr>
              <a:t>structure()</a:t>
            </a:r>
            <a:r>
              <a:rPr lang="en-CA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function on our </a:t>
            </a:r>
            <a:r>
              <a:rPr lang="en-CA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lang="en-CA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CA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you run </a:t>
            </a:r>
            <a:r>
              <a:rPr lang="en-CA" sz="1200" b="0" i="0" u="none" strike="noStrike" dirty="0">
                <a:solidFill>
                  <a:srgbClr val="188038"/>
                </a:solidFill>
                <a:effectLst/>
                <a:latin typeface="Roboto Mono" pitchFamily="49" charset="0"/>
              </a:rPr>
              <a:t>str(sacramento), </a:t>
            </a:r>
            <a:r>
              <a:rPr lang="en-CA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you get a concise summary of the dataset, including:</a:t>
            </a:r>
            <a:endParaRPr lang="en-CA" b="0" dirty="0">
              <a:effectLst/>
            </a:endParaRPr>
          </a:p>
          <a:p>
            <a:pPr rtl="0" fontAlgn="base">
              <a:spcBef>
                <a:spcPts val="1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Column names</a:t>
            </a:r>
            <a:endParaRPr lang="en-CA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types</a:t>
            </a:r>
            <a:r>
              <a:rPr lang="en-CA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for each column i.e., whether its an integer o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first few observations in that column</a:t>
            </a:r>
          </a:p>
          <a:p>
            <a:pPr rtl="0" fontAlgn="base"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endParaRPr lang="en-CA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is incredibly helpful for understanding the structure of your dataset!</a:t>
            </a:r>
            <a:endParaRPr lang="en-CA" b="0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D76FF-7493-B76B-D2F3-30431568D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53221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7B310-80C7-1FB8-391A-64EAF4EA0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B8326-74E2-FB82-AE5A-912847BBC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21D55-0169-7336-C9DA-97D16AF59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Next, let’s pull out some </a:t>
            </a:r>
            <a:r>
              <a:rPr lang="en-CA" b="1" dirty="0"/>
              <a:t>summary statistics</a:t>
            </a:r>
            <a:r>
              <a:rPr lang="en-CA" dirty="0"/>
              <a:t> for our variables to get a better sense of what we’re working with.</a:t>
            </a:r>
          </a:p>
          <a:p>
            <a:endParaRPr lang="en-CA" dirty="0"/>
          </a:p>
          <a:p>
            <a:r>
              <a:rPr lang="en-CA" dirty="0"/>
              <a:t>We can do this easily using the </a:t>
            </a:r>
            <a:r>
              <a:rPr lang="en-CA" b="1" dirty="0"/>
              <a:t>summary()</a:t>
            </a:r>
            <a:r>
              <a:rPr lang="en-CA" dirty="0"/>
              <a:t> function.</a:t>
            </a:r>
          </a:p>
          <a:p>
            <a:endParaRPr lang="en-CA" dirty="0"/>
          </a:p>
          <a:p>
            <a:r>
              <a:rPr lang="en-CA" dirty="0"/>
              <a:t>This function gives us a quick overview of key statistics — like the mean, </a:t>
            </a:r>
            <a:r>
              <a:rPr lang="en-CA" b="1" dirty="0"/>
              <a:t>minimum and maximum values</a:t>
            </a:r>
            <a:r>
              <a:rPr lang="en-CA" dirty="0"/>
              <a:t>, median, the </a:t>
            </a:r>
            <a:r>
              <a:rPr lang="en-CA" b="1" dirty="0"/>
              <a:t>25th, and 75th percentiles</a:t>
            </a:r>
            <a:r>
              <a:rPr lang="en-CA" dirty="0"/>
              <a:t> for each numeric variable.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79AF4-94EB-5AB3-7A7D-0EA55EFBA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3716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8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39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7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0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5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13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49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26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8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3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73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292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1707-777C-7A52-3280-B460A827B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Correlation &amp; </a:t>
            </a:r>
            <a:b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Simple 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53FD7-2DFC-6C46-9DD8-3F808B642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36217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b="1" dirty="0"/>
              <a:t>Julia Gallucci HB.Sc, M.Sc, Ph.D. (c) </a:t>
            </a:r>
          </a:p>
          <a:p>
            <a:pPr algn="l"/>
            <a:r>
              <a:rPr lang="en-US" sz="1400" dirty="0"/>
              <a:t>Campbell Family Mental Health Research Institute, CAMH</a:t>
            </a:r>
          </a:p>
          <a:p>
            <a:pPr algn="l"/>
            <a:r>
              <a:rPr lang="en-US" sz="1400" dirty="0"/>
              <a:t>Institute of Medical Science | University of Toronto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1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B004-DEF5-406C-8AD6-3F634E4E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CF6B-5C58-D402-B42A-C11166569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7743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bg1"/>
                </a:solidFill>
                <a:cs typeface="Calibri Light" panose="020F0302020204030204" pitchFamily="34" charset="0"/>
              </a:rPr>
              <a:t>Why correlation and linear regression?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bg1"/>
                </a:solidFill>
                <a:cs typeface="Calibri Light" panose="020F0302020204030204" pitchFamily="34" charset="0"/>
              </a:rPr>
              <a:t>How linear regression works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bg1"/>
                </a:solidFill>
                <a:cs typeface="Calibri Light" panose="020F0302020204030204" pitchFamily="34" charset="0"/>
              </a:rPr>
              <a:t>Try it in R!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35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63938-53D1-0440-117F-59781DC4F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8B8CB-27B0-D979-5652-315B6B31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How are 2 sets of numbers related?</a:t>
            </a:r>
          </a:p>
        </p:txBody>
      </p:sp>
    </p:spTree>
    <p:extLst>
      <p:ext uri="{BB962C8B-B14F-4D97-AF65-F5344CB8AC3E}">
        <p14:creationId xmlns:p14="http://schemas.microsoft.com/office/powerpoint/2010/main" val="2905415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78157D-C0BD-32B6-33B0-0C987B7CD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ontent Placeholder 2">
                <a:extLst>
                  <a:ext uri="{FF2B5EF4-FFF2-40B4-BE49-F238E27FC236}">
                    <a16:creationId xmlns:a16="http://schemas.microsoft.com/office/drawing/2014/main" id="{1A3C7EF7-0B12-FEBD-E881-08C9CBD800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700" y="1758155"/>
                <a:ext cx="6098583" cy="505832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𝑟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tells us how strong two numeric variables move together and in what direction.</a:t>
                </a:r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endParaRPr lang="en-US" sz="2400" dirty="0">
                  <a:solidFill>
                    <a:schemeClr val="bg1"/>
                  </a:solidFill>
                  <a:cs typeface="Calibri Light" panose="020F0302020204030204" pitchFamily="34" charset="0"/>
                </a:endParaRPr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endParaRPr lang="en-US" sz="2400" dirty="0">
                  <a:solidFill>
                    <a:schemeClr val="bg1"/>
                  </a:solidFill>
                  <a:cs typeface="Calibri Light" panose="020F0302020204030204" pitchFamily="34" charset="0"/>
                </a:endParaRPr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endParaRPr lang="en-US" sz="2400" dirty="0">
                  <a:solidFill>
                    <a:schemeClr val="bg1"/>
                  </a:solidFill>
                  <a:cs typeface="Calibri Light" panose="020F0302020204030204" pitchFamily="34" charset="0"/>
                </a:endParaRPr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endParaRPr lang="en-US" sz="2400" dirty="0">
                  <a:solidFill>
                    <a:schemeClr val="bg1"/>
                  </a:solidFill>
                  <a:cs typeface="Calibri Light" panose="020F0302020204030204" pitchFamily="34" charset="0"/>
                </a:endParaRPr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endParaRPr lang="en-US" sz="2400" dirty="0">
                  <a:solidFill>
                    <a:schemeClr val="bg1"/>
                  </a:solidFill>
                  <a:cs typeface="Calibri Light" panose="020F0302020204030204" pitchFamily="34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en-US" sz="400" dirty="0">
                  <a:solidFill>
                    <a:schemeClr val="bg1"/>
                  </a:solidFill>
                  <a:cs typeface="Calibri Light" panose="020F0302020204030204" pitchFamily="34" charset="0"/>
                </a:endParaRPr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Takeaway: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b="1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Closer to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, </a:t>
                </a:r>
                <a:r>
                  <a:rPr lang="en-US" b="1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stronger</a:t>
                </a:r>
                <a:r>
                  <a:rPr lang="en-US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 the relationship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b="1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Sign</a:t>
                </a:r>
                <a:r>
                  <a:rPr lang="en-US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+/−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) shows the </a:t>
                </a:r>
                <a:r>
                  <a:rPr lang="en-US" b="1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direction</a:t>
                </a:r>
              </a:p>
            </p:txBody>
          </p:sp>
        </mc:Choice>
        <mc:Fallback>
          <p:sp>
            <p:nvSpPr>
              <p:cNvPr id="29" name="Content Placeholder 2">
                <a:extLst>
                  <a:ext uri="{FF2B5EF4-FFF2-40B4-BE49-F238E27FC236}">
                    <a16:creationId xmlns:a16="http://schemas.microsoft.com/office/drawing/2014/main" id="{1A3C7EF7-0B12-FEBD-E881-08C9CBD800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1758155"/>
                <a:ext cx="6098583" cy="5058322"/>
              </a:xfrm>
              <a:blipFill>
                <a:blip r:embed="rId3"/>
                <a:stretch>
                  <a:fillRect l="-1455" t="-1003" r="-2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020DA8-14CD-CB45-6B88-3436703C4E4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The Pearson’s correlation coefficient 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D232F9E-3A76-5096-1FED-73EA62BDD0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graphs and equations&#10;&#10;Description automatically generated with medium confidence">
            <a:extLst>
              <a:ext uri="{FF2B5EF4-FFF2-40B4-BE49-F238E27FC236}">
                <a16:creationId xmlns:a16="http://schemas.microsoft.com/office/drawing/2014/main" id="{C91C6A0D-DE3A-8DB8-4BA0-CE19361A9D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70" y="1247775"/>
            <a:ext cx="5680530" cy="50583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8B2378-586D-3BF2-92A6-8C7213401757}"/>
              </a:ext>
            </a:extLst>
          </p:cNvPr>
          <p:cNvSpPr txBox="1"/>
          <p:nvPr/>
        </p:nvSpPr>
        <p:spPr>
          <a:xfrm>
            <a:off x="6869101" y="1543128"/>
            <a:ext cx="2147611" cy="1977993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2556A-3943-04EB-6E0F-9DB537D933BF}"/>
              </a:ext>
            </a:extLst>
          </p:cNvPr>
          <p:cNvSpPr txBox="1"/>
          <p:nvPr/>
        </p:nvSpPr>
        <p:spPr>
          <a:xfrm>
            <a:off x="9535251" y="1515831"/>
            <a:ext cx="2147611" cy="1977993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D9FEDC-5BDD-8D68-675B-BC0749623DEC}"/>
              </a:ext>
            </a:extLst>
          </p:cNvPr>
          <p:cNvSpPr txBox="1"/>
          <p:nvPr/>
        </p:nvSpPr>
        <p:spPr>
          <a:xfrm>
            <a:off x="6869100" y="3924612"/>
            <a:ext cx="2303035" cy="1977993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751ED5-022A-31D1-9BD3-29D8103337BB}"/>
              </a:ext>
            </a:extLst>
          </p:cNvPr>
          <p:cNvSpPr txBox="1"/>
          <p:nvPr/>
        </p:nvSpPr>
        <p:spPr>
          <a:xfrm>
            <a:off x="9616254" y="3910964"/>
            <a:ext cx="2147611" cy="1977993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CCD1FA-9230-87D8-3799-5E147BA6CF2C}"/>
              </a:ext>
            </a:extLst>
          </p:cNvPr>
          <p:cNvCxnSpPr>
            <a:cxnSpLocks/>
          </p:cNvCxnSpPr>
          <p:nvPr/>
        </p:nvCxnSpPr>
        <p:spPr>
          <a:xfrm>
            <a:off x="253872" y="3615539"/>
            <a:ext cx="6005619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32227FA-E74E-1592-2E21-C262F5086A49}"/>
              </a:ext>
            </a:extLst>
          </p:cNvPr>
          <p:cNvCxnSpPr>
            <a:cxnSpLocks/>
          </p:cNvCxnSpPr>
          <p:nvPr/>
        </p:nvCxnSpPr>
        <p:spPr>
          <a:xfrm>
            <a:off x="253872" y="3078768"/>
            <a:ext cx="0" cy="9706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22B95E-03F5-39D6-ABD6-50CB9B0EA68E}"/>
              </a:ext>
            </a:extLst>
          </p:cNvPr>
          <p:cNvCxnSpPr>
            <a:cxnSpLocks/>
          </p:cNvCxnSpPr>
          <p:nvPr/>
        </p:nvCxnSpPr>
        <p:spPr>
          <a:xfrm>
            <a:off x="3256681" y="3078768"/>
            <a:ext cx="0" cy="9706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A42CA0-57DE-A5AC-7793-45E91343A605}"/>
              </a:ext>
            </a:extLst>
          </p:cNvPr>
          <p:cNvCxnSpPr>
            <a:cxnSpLocks/>
          </p:cNvCxnSpPr>
          <p:nvPr/>
        </p:nvCxnSpPr>
        <p:spPr>
          <a:xfrm>
            <a:off x="6259491" y="3078768"/>
            <a:ext cx="0" cy="9706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3312873-1EFC-5C86-7627-76D36336CC86}"/>
              </a:ext>
            </a:extLst>
          </p:cNvPr>
          <p:cNvSpPr/>
          <p:nvPr/>
        </p:nvSpPr>
        <p:spPr>
          <a:xfrm>
            <a:off x="442856" y="4351870"/>
            <a:ext cx="2334148" cy="45016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Negative Correlation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A9BAA7-C9A7-0810-207C-D45DF0DF119F}"/>
              </a:ext>
            </a:extLst>
          </p:cNvPr>
          <p:cNvSpPr/>
          <p:nvPr/>
        </p:nvSpPr>
        <p:spPr>
          <a:xfrm>
            <a:off x="3613083" y="4351870"/>
            <a:ext cx="2334148" cy="45016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Positive Correlation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B27C9E-3D0D-8155-F505-126DF6BF98F2}"/>
              </a:ext>
            </a:extLst>
          </p:cNvPr>
          <p:cNvSpPr/>
          <p:nvPr/>
        </p:nvSpPr>
        <p:spPr>
          <a:xfrm>
            <a:off x="2821166" y="4351870"/>
            <a:ext cx="747754" cy="45016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Zero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4036F3-02FE-BA71-D78F-DA62E04D7AB9}"/>
              </a:ext>
            </a:extLst>
          </p:cNvPr>
          <p:cNvSpPr txBox="1"/>
          <p:nvPr/>
        </p:nvSpPr>
        <p:spPr>
          <a:xfrm>
            <a:off x="2957158" y="3998392"/>
            <a:ext cx="534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0.0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EABBC9-620D-77DD-753D-B2843BB8A465}"/>
              </a:ext>
            </a:extLst>
          </p:cNvPr>
          <p:cNvSpPr txBox="1"/>
          <p:nvPr/>
        </p:nvSpPr>
        <p:spPr>
          <a:xfrm>
            <a:off x="54162" y="3998392"/>
            <a:ext cx="56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-1.0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8D8B8F-7D1B-41D1-1521-AAD96BDAC3D3}"/>
              </a:ext>
            </a:extLst>
          </p:cNvPr>
          <p:cNvSpPr txBox="1"/>
          <p:nvPr/>
        </p:nvSpPr>
        <p:spPr>
          <a:xfrm>
            <a:off x="3453977" y="3194748"/>
            <a:ext cx="2911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Weak           </a:t>
            </a:r>
            <a:r>
              <a:rPr lang="en-US" dirty="0">
                <a:solidFill>
                  <a:schemeClr val="accent1"/>
                </a:solidFill>
                <a:sym typeface="Wingdings" pitchFamily="2" charset="2"/>
              </a:rPr>
              <a:t>              Strong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4CEBAD-1E36-FF00-D539-971EDE9D31AC}"/>
              </a:ext>
            </a:extLst>
          </p:cNvPr>
          <p:cNvSpPr txBox="1"/>
          <p:nvPr/>
        </p:nvSpPr>
        <p:spPr>
          <a:xfrm>
            <a:off x="336098" y="3229316"/>
            <a:ext cx="2774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Strong           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            Weak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A5985F-C2E7-6016-C418-9702CCD6455F}"/>
              </a:ext>
            </a:extLst>
          </p:cNvPr>
          <p:cNvSpPr txBox="1"/>
          <p:nvPr/>
        </p:nvSpPr>
        <p:spPr>
          <a:xfrm>
            <a:off x="5908044" y="4030595"/>
            <a:ext cx="6100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+1.0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4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7" grpId="0" animBg="1"/>
      <p:bldP spid="7" grpId="1" animBg="1"/>
      <p:bldP spid="9" grpId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9ED630-EAF2-9729-9214-D6564FB9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62DB3-3E00-247C-8880-844E03487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From correlation to prediction</a:t>
            </a:r>
          </a:p>
        </p:txBody>
      </p:sp>
      <p:pic>
        <p:nvPicPr>
          <p:cNvPr id="6" name="Picture 5" descr="A diagram of graphs and equations&#10;&#10;Description automatically generated with medium confidence">
            <a:extLst>
              <a:ext uri="{FF2B5EF4-FFF2-40B4-BE49-F238E27FC236}">
                <a16:creationId xmlns:a16="http://schemas.microsoft.com/office/drawing/2014/main" id="{87C6B672-18FA-6037-F66D-9022E3EA39E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6000"/>
          </a:blip>
          <a:stretch>
            <a:fillRect/>
          </a:stretch>
        </p:blipFill>
        <p:spPr>
          <a:xfrm>
            <a:off x="6244770" y="1247775"/>
            <a:ext cx="5680530" cy="50583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5E6F2A41-89F9-A690-56E1-13578E0881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700" y="1758155"/>
                <a:ext cx="6098583" cy="505832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solidFill>
                      <a:schemeClr val="tx2">
                        <a:lumMod val="90000"/>
                      </a:schemeClr>
                    </a:solidFill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90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𝑟</m:t>
                    </m:r>
                    <m:r>
                      <a:rPr lang="en-US" sz="2400" i="1" dirty="0" smtClean="0">
                        <a:solidFill>
                          <a:schemeClr val="tx2">
                            <a:lumMod val="90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2">
                        <a:lumMod val="90000"/>
                      </a:schemeClr>
                    </a:solidFill>
                    <a:cs typeface="Calibri Light" panose="020F0302020204030204" pitchFamily="34" charset="0"/>
                  </a:rPr>
                  <a:t>tells us how strong two numeric variables move together and in what direction.</a:t>
                </a:r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endParaRPr lang="en-US" sz="2400" dirty="0">
                  <a:solidFill>
                    <a:schemeClr val="tx2">
                      <a:lumMod val="90000"/>
                    </a:schemeClr>
                  </a:solidFill>
                  <a:cs typeface="Calibri Light" panose="020F0302020204030204" pitchFamily="34" charset="0"/>
                </a:endParaRPr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endParaRPr lang="en-US" sz="2400" dirty="0">
                  <a:solidFill>
                    <a:schemeClr val="tx2">
                      <a:lumMod val="90000"/>
                    </a:schemeClr>
                  </a:solidFill>
                  <a:cs typeface="Calibri Light" panose="020F0302020204030204" pitchFamily="34" charset="0"/>
                </a:endParaRPr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endParaRPr lang="en-US" sz="2400" dirty="0">
                  <a:solidFill>
                    <a:schemeClr val="tx2">
                      <a:lumMod val="90000"/>
                    </a:schemeClr>
                  </a:solidFill>
                  <a:cs typeface="Calibri Light" panose="020F0302020204030204" pitchFamily="34" charset="0"/>
                </a:endParaRPr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endParaRPr lang="en-US" sz="2400" dirty="0">
                  <a:solidFill>
                    <a:schemeClr val="tx2">
                      <a:lumMod val="90000"/>
                    </a:schemeClr>
                  </a:solidFill>
                  <a:cs typeface="Calibri Light" panose="020F0302020204030204" pitchFamily="34" charset="0"/>
                </a:endParaRPr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endParaRPr lang="en-US" sz="2400" dirty="0">
                  <a:solidFill>
                    <a:schemeClr val="tx2">
                      <a:lumMod val="90000"/>
                    </a:schemeClr>
                  </a:solidFill>
                  <a:cs typeface="Calibri Light" panose="020F0302020204030204" pitchFamily="34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en-US" sz="400" dirty="0">
                  <a:solidFill>
                    <a:schemeClr val="tx2">
                      <a:lumMod val="90000"/>
                    </a:schemeClr>
                  </a:solidFill>
                  <a:cs typeface="Calibri Light" panose="020F0302020204030204" pitchFamily="34" charset="0"/>
                </a:endParaRPr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solidFill>
                      <a:schemeClr val="tx2">
                        <a:lumMod val="90000"/>
                      </a:schemeClr>
                    </a:solidFill>
                    <a:cs typeface="Calibri Light" panose="020F0302020204030204" pitchFamily="34" charset="0"/>
                  </a:rPr>
                  <a:t>Takeaway: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b="1" dirty="0">
                    <a:solidFill>
                      <a:schemeClr val="tx2">
                        <a:lumMod val="90000"/>
                      </a:schemeClr>
                    </a:solidFill>
                    <a:cs typeface="Calibri Light" panose="020F0302020204030204" pitchFamily="34" charset="0"/>
                  </a:rPr>
                  <a:t>Closer to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tx2">
                            <a:lumMod val="90000"/>
                          </a:schemeClr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1" i="1" dirty="0">
                        <a:solidFill>
                          <a:schemeClr val="tx2">
                            <a:lumMod val="9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>
                    <a:solidFill>
                      <a:schemeClr val="tx2">
                        <a:lumMod val="90000"/>
                      </a:schemeClr>
                    </a:solidFill>
                    <a:cs typeface="Calibri Light" panose="020F0302020204030204" pitchFamily="34" charset="0"/>
                  </a:rPr>
                  <a:t>, </a:t>
                </a:r>
                <a:r>
                  <a:rPr lang="en-US" b="1" dirty="0">
                    <a:solidFill>
                      <a:schemeClr val="tx2">
                        <a:lumMod val="90000"/>
                      </a:schemeClr>
                    </a:solidFill>
                    <a:cs typeface="Calibri Light" panose="020F0302020204030204" pitchFamily="34" charset="0"/>
                  </a:rPr>
                  <a:t>stronger</a:t>
                </a:r>
                <a:r>
                  <a:rPr lang="en-US" dirty="0">
                    <a:solidFill>
                      <a:schemeClr val="tx2">
                        <a:lumMod val="90000"/>
                      </a:schemeClr>
                    </a:solidFill>
                    <a:cs typeface="Calibri Light" panose="020F0302020204030204" pitchFamily="34" charset="0"/>
                  </a:rPr>
                  <a:t> the relationship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b="1" dirty="0">
                    <a:solidFill>
                      <a:schemeClr val="tx2">
                        <a:lumMod val="90000"/>
                      </a:schemeClr>
                    </a:solidFill>
                    <a:cs typeface="Calibri Light" panose="020F0302020204030204" pitchFamily="34" charset="0"/>
                  </a:rPr>
                  <a:t>Sign</a:t>
                </a:r>
                <a:r>
                  <a:rPr lang="en-US" dirty="0">
                    <a:solidFill>
                      <a:schemeClr val="tx2">
                        <a:lumMod val="90000"/>
                      </a:schemeClr>
                    </a:solidFill>
                    <a:cs typeface="Calibri Light" panose="020F030202020403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90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+/−</m:t>
                    </m:r>
                  </m:oMath>
                </a14:m>
                <a:r>
                  <a:rPr lang="en-US" dirty="0">
                    <a:solidFill>
                      <a:schemeClr val="tx2">
                        <a:lumMod val="90000"/>
                      </a:schemeClr>
                    </a:solidFill>
                    <a:cs typeface="Calibri Light" panose="020F0302020204030204" pitchFamily="34" charset="0"/>
                  </a:rPr>
                  <a:t>) shows the </a:t>
                </a:r>
                <a:r>
                  <a:rPr lang="en-US" b="1" dirty="0">
                    <a:solidFill>
                      <a:schemeClr val="tx2">
                        <a:lumMod val="90000"/>
                      </a:schemeClr>
                    </a:solidFill>
                    <a:cs typeface="Calibri Light" panose="020F0302020204030204" pitchFamily="34" charset="0"/>
                  </a:rPr>
                  <a:t>direction</a:t>
                </a:r>
              </a:p>
            </p:txBody>
          </p:sp>
        </mc:Choice>
        <mc:Fallback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5E6F2A41-89F9-A690-56E1-13578E0881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1758155"/>
                <a:ext cx="6098583" cy="5058322"/>
              </a:xfrm>
              <a:blipFill>
                <a:blip r:embed="rId4"/>
                <a:stretch>
                  <a:fillRect l="-1455" t="-1003" r="-2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4D8D18A-BA88-0E05-1FF7-A3D662BF09C6}"/>
              </a:ext>
            </a:extLst>
          </p:cNvPr>
          <p:cNvCxnSpPr>
            <a:cxnSpLocks/>
          </p:cNvCxnSpPr>
          <p:nvPr/>
        </p:nvCxnSpPr>
        <p:spPr>
          <a:xfrm>
            <a:off x="253872" y="3615539"/>
            <a:ext cx="6005619" cy="0"/>
          </a:xfrm>
          <a:prstGeom prst="line">
            <a:avLst/>
          </a:prstGeom>
          <a:ln w="57150">
            <a:solidFill>
              <a:schemeClr val="tx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DCDFD8-00E2-71FE-356B-466D6B62E25F}"/>
              </a:ext>
            </a:extLst>
          </p:cNvPr>
          <p:cNvCxnSpPr>
            <a:cxnSpLocks/>
          </p:cNvCxnSpPr>
          <p:nvPr/>
        </p:nvCxnSpPr>
        <p:spPr>
          <a:xfrm>
            <a:off x="253872" y="3078768"/>
            <a:ext cx="0" cy="970624"/>
          </a:xfrm>
          <a:prstGeom prst="line">
            <a:avLst/>
          </a:prstGeom>
          <a:ln w="57150">
            <a:solidFill>
              <a:schemeClr val="tx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C79051-09F1-2B58-4203-C85C3BB26A2D}"/>
              </a:ext>
            </a:extLst>
          </p:cNvPr>
          <p:cNvCxnSpPr>
            <a:cxnSpLocks/>
          </p:cNvCxnSpPr>
          <p:nvPr/>
        </p:nvCxnSpPr>
        <p:spPr>
          <a:xfrm>
            <a:off x="3256681" y="3078768"/>
            <a:ext cx="0" cy="970624"/>
          </a:xfrm>
          <a:prstGeom prst="line">
            <a:avLst/>
          </a:prstGeom>
          <a:ln w="57150">
            <a:solidFill>
              <a:schemeClr val="tx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09472DB-42F1-F056-5963-75DA4F22DE95}"/>
              </a:ext>
            </a:extLst>
          </p:cNvPr>
          <p:cNvCxnSpPr>
            <a:cxnSpLocks/>
          </p:cNvCxnSpPr>
          <p:nvPr/>
        </p:nvCxnSpPr>
        <p:spPr>
          <a:xfrm>
            <a:off x="6259491" y="3078768"/>
            <a:ext cx="0" cy="970624"/>
          </a:xfrm>
          <a:prstGeom prst="line">
            <a:avLst/>
          </a:prstGeom>
          <a:ln w="57150">
            <a:solidFill>
              <a:schemeClr val="tx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FEBFD67-74E6-00A3-D2B0-56720634700B}"/>
              </a:ext>
            </a:extLst>
          </p:cNvPr>
          <p:cNvSpPr/>
          <p:nvPr/>
        </p:nvSpPr>
        <p:spPr>
          <a:xfrm>
            <a:off x="442856" y="4351870"/>
            <a:ext cx="2334148" cy="450166"/>
          </a:xfrm>
          <a:prstGeom prst="rect">
            <a:avLst/>
          </a:prstGeom>
          <a:solidFill>
            <a:srgbClr val="C00000">
              <a:alpha val="29020"/>
            </a:srgb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90000"/>
                  </a:schemeClr>
                </a:solidFill>
              </a:rPr>
              <a:t>Negative Correlation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B521C5-88DE-E728-2190-6A42AC2B329D}"/>
              </a:ext>
            </a:extLst>
          </p:cNvPr>
          <p:cNvSpPr/>
          <p:nvPr/>
        </p:nvSpPr>
        <p:spPr>
          <a:xfrm>
            <a:off x="3613083" y="4351870"/>
            <a:ext cx="2334148" cy="4501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90000"/>
                  </a:schemeClr>
                </a:solidFill>
              </a:rPr>
              <a:t>Positive Correlation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0A6EF8-96CC-C671-63F9-C9665F2D22B4}"/>
              </a:ext>
            </a:extLst>
          </p:cNvPr>
          <p:cNvSpPr/>
          <p:nvPr/>
        </p:nvSpPr>
        <p:spPr>
          <a:xfrm>
            <a:off x="2821166" y="4351870"/>
            <a:ext cx="747754" cy="4501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90000"/>
                  </a:schemeClr>
                </a:solidFill>
              </a:rPr>
              <a:t>Zero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D9CB77-548B-BF8D-FCDC-6289360DC2D1}"/>
              </a:ext>
            </a:extLst>
          </p:cNvPr>
          <p:cNvSpPr txBox="1"/>
          <p:nvPr/>
        </p:nvSpPr>
        <p:spPr>
          <a:xfrm>
            <a:off x="2957158" y="3998392"/>
            <a:ext cx="534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</a:schemeClr>
                </a:solidFill>
              </a:rPr>
              <a:t>0.0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341DD6-1A60-DE03-6325-5558AD5643AB}"/>
              </a:ext>
            </a:extLst>
          </p:cNvPr>
          <p:cNvSpPr txBox="1"/>
          <p:nvPr/>
        </p:nvSpPr>
        <p:spPr>
          <a:xfrm>
            <a:off x="54162" y="3998392"/>
            <a:ext cx="56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</a:schemeClr>
                </a:solidFill>
              </a:rPr>
              <a:t>-1.0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BC3CF6-3768-7FD4-C1B6-F574C8EA6621}"/>
              </a:ext>
            </a:extLst>
          </p:cNvPr>
          <p:cNvSpPr txBox="1"/>
          <p:nvPr/>
        </p:nvSpPr>
        <p:spPr>
          <a:xfrm>
            <a:off x="3453977" y="3194748"/>
            <a:ext cx="2911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90000"/>
                  </a:schemeClr>
                </a:solidFill>
              </a:rPr>
              <a:t>Weak           </a:t>
            </a:r>
            <a:r>
              <a:rPr lang="en-US" dirty="0">
                <a:solidFill>
                  <a:schemeClr val="tx2">
                    <a:lumMod val="90000"/>
                  </a:schemeClr>
                </a:solidFill>
                <a:sym typeface="Wingdings" pitchFamily="2" charset="2"/>
              </a:rPr>
              <a:t>              Strong</a:t>
            </a:r>
            <a:endParaRPr lang="en-US" dirty="0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071D7A-0A25-F73E-51CF-2CB091122C9D}"/>
              </a:ext>
            </a:extLst>
          </p:cNvPr>
          <p:cNvSpPr txBox="1"/>
          <p:nvPr/>
        </p:nvSpPr>
        <p:spPr>
          <a:xfrm>
            <a:off x="336098" y="3229316"/>
            <a:ext cx="2774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90000"/>
                  </a:schemeClr>
                </a:solidFill>
              </a:rPr>
              <a:t>Strong           </a:t>
            </a:r>
            <a:r>
              <a:rPr lang="en-US" dirty="0">
                <a:solidFill>
                  <a:schemeClr val="tx2">
                    <a:lumMod val="90000"/>
                  </a:schemeClr>
                </a:solidFill>
                <a:sym typeface="Wingdings" pitchFamily="2" charset="2"/>
              </a:rPr>
              <a:t>            Weak</a:t>
            </a:r>
            <a:endParaRPr lang="en-US" dirty="0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315DBB-DBCF-0A5A-3EA7-4FBC3FB875DC}"/>
              </a:ext>
            </a:extLst>
          </p:cNvPr>
          <p:cNvSpPr txBox="1"/>
          <p:nvPr/>
        </p:nvSpPr>
        <p:spPr>
          <a:xfrm>
            <a:off x="1755239" y="2807440"/>
            <a:ext cx="8681522" cy="1938992"/>
          </a:xfrm>
          <a:prstGeom prst="rect">
            <a:avLst/>
          </a:prstGeom>
          <a:solidFill>
            <a:schemeClr val="tx2"/>
          </a:solidFill>
          <a:ln w="762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2400" b="1" dirty="0">
              <a:solidFill>
                <a:schemeClr val="bg1"/>
              </a:solidFill>
            </a:endParaRPr>
          </a:p>
          <a:p>
            <a:r>
              <a:rPr lang="en-CA" sz="2400" b="1" dirty="0">
                <a:solidFill>
                  <a:schemeClr val="bg1"/>
                </a:solidFill>
              </a:rPr>
              <a:t>Linear regression </a:t>
            </a:r>
            <a:r>
              <a:rPr lang="en-CA" sz="2400" dirty="0">
                <a:solidFill>
                  <a:schemeClr val="bg1"/>
                </a:solidFill>
              </a:rPr>
              <a:t>takes correlation a step further. It shows </a:t>
            </a:r>
            <a:r>
              <a:rPr lang="en-CA" sz="2400" b="1" dirty="0">
                <a:solidFill>
                  <a:schemeClr val="bg1"/>
                </a:solidFill>
              </a:rPr>
              <a:t>how much one variable changes when the other increases</a:t>
            </a:r>
            <a:r>
              <a:rPr lang="en-CA" sz="2400" dirty="0">
                <a:solidFill>
                  <a:schemeClr val="bg1"/>
                </a:solidFill>
              </a:rPr>
              <a:t>, and it gives us a simple</a:t>
            </a:r>
            <a:r>
              <a:rPr lang="en-CA" sz="2400" b="1" dirty="0">
                <a:solidFill>
                  <a:schemeClr val="bg1"/>
                </a:solidFill>
              </a:rPr>
              <a:t> equation to make predictions.</a:t>
            </a:r>
            <a:endParaRPr lang="en-CA" sz="2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825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B174A4-98FC-6A2D-DE45-616406C28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page3image54657440">
            <a:extLst>
              <a:ext uri="{FF2B5EF4-FFF2-40B4-BE49-F238E27FC236}">
                <a16:creationId xmlns:a16="http://schemas.microsoft.com/office/drawing/2014/main" id="{8A7A30DB-38E4-1FF2-75E6-6F4FB043B7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737"/>
          <a:stretch/>
        </p:blipFill>
        <p:spPr bwMode="auto">
          <a:xfrm>
            <a:off x="7486650" y="1027906"/>
            <a:ext cx="4279900" cy="3104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217FE5-4A89-F8E9-1D90-9C29DC4F5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regression problem: Finding the line of best fit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881032-71DA-28B6-6E29-5A434FB582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789999"/>
                <a:ext cx="6095999" cy="4351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Uses one or more variables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𝑥</m:t>
                    </m:r>
                    <m:r>
                      <a:rPr lang="en-CA" sz="24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 to predict a numeric value of interest (response variable;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).</a:t>
                </a:r>
              </a:p>
              <a:p>
                <a:pPr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Examples of applications: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Predicting someone’s weight using their height</a:t>
                </a:r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Regression models predict new observation’s response variable based on finding a pattern in the data set of past observations and drawing a </a:t>
                </a:r>
                <a:r>
                  <a:rPr lang="en-US" sz="2400" b="1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line of best fit</a:t>
                </a:r>
                <a:r>
                  <a:rPr lang="en-US" sz="24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 through it.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881032-71DA-28B6-6E29-5A434FB582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789999"/>
                <a:ext cx="6095999" cy="4351338"/>
              </a:xfrm>
              <a:blipFill>
                <a:blip r:embed="rId4"/>
                <a:stretch>
                  <a:fillRect l="-1455" t="-1166" r="-1663" b="-13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5" name="Picture 1" descr="page3image54657440">
            <a:extLst>
              <a:ext uri="{FF2B5EF4-FFF2-40B4-BE49-F238E27FC236}">
                <a16:creationId xmlns:a16="http://schemas.microsoft.com/office/drawing/2014/main" id="{B58EF58B-05B1-D05D-7DDB-BC87E05DBE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36"/>
          <a:stretch/>
        </p:blipFill>
        <p:spPr bwMode="auto">
          <a:xfrm>
            <a:off x="7486650" y="3753852"/>
            <a:ext cx="4279900" cy="3104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5-Point Star 3">
            <a:extLst>
              <a:ext uri="{FF2B5EF4-FFF2-40B4-BE49-F238E27FC236}">
                <a16:creationId xmlns:a16="http://schemas.microsoft.com/office/drawing/2014/main" id="{B2C908CE-C1EF-2ADF-D985-CE817FC6D504}"/>
              </a:ext>
            </a:extLst>
          </p:cNvPr>
          <p:cNvSpPr/>
          <p:nvPr/>
        </p:nvSpPr>
        <p:spPr>
          <a:xfrm>
            <a:off x="7963374" y="4794834"/>
            <a:ext cx="325071" cy="328277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0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6583A1-C41B-07C7-DA81-69765584B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487A76-2E36-038F-43C6-E1F5CD1B7F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64978"/>
                <a:ext cx="10835243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CA" sz="32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CA" sz="3200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CA" sz="32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CA" sz="3200" b="0" i="1" baseline="-250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A" sz="32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CA" sz="2400" dirty="0">
                  <a:solidFill>
                    <a:schemeClr val="bg1"/>
                  </a:solidFill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CA" sz="2400" b="1" dirty="0">
                    <a:solidFill>
                      <a:schemeClr val="bg1"/>
                    </a:solidFill>
                  </a:rPr>
                  <a:t>Predictor Variable (</a:t>
                </a:r>
                <a14:m>
                  <m:oMath xmlns:m="http://schemas.openxmlformats.org/officeDocument/2006/math">
                    <m:r>
                      <a:rPr lang="en-CA" sz="24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CA" sz="2400" b="1" dirty="0">
                    <a:solidFill>
                      <a:schemeClr val="bg1"/>
                    </a:solidFill>
                  </a:rPr>
                  <a:t>)</a:t>
                </a:r>
                <a:r>
                  <a:rPr lang="en-CA" sz="2400" dirty="0">
                    <a:solidFill>
                      <a:schemeClr val="bg1"/>
                    </a:solidFill>
                  </a:rPr>
                  <a:t>:</a:t>
                </a:r>
              </a:p>
              <a:p>
                <a:pPr lvl="1"/>
                <a:r>
                  <a:rPr lang="en-CA" dirty="0">
                    <a:solidFill>
                      <a:schemeClr val="bg1"/>
                    </a:solidFill>
                  </a:rPr>
                  <a:t>The factor you’re using to make the prediction (independent variable)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CA" sz="2400" b="1" dirty="0">
                    <a:solidFill>
                      <a:schemeClr val="bg1"/>
                    </a:solidFill>
                  </a:rPr>
                  <a:t>Response Variable (</a:t>
                </a:r>
                <a14:m>
                  <m:oMath xmlns:m="http://schemas.openxmlformats.org/officeDocument/2006/math">
                    <m:r>
                      <a:rPr lang="en-CA" sz="24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CA" sz="2400" b="1" dirty="0">
                    <a:solidFill>
                      <a:schemeClr val="bg1"/>
                    </a:solidFill>
                  </a:rPr>
                  <a:t>)</a:t>
                </a:r>
              </a:p>
              <a:p>
                <a:pPr lvl="1"/>
                <a:r>
                  <a:rPr lang="en-CA" dirty="0">
                    <a:solidFill>
                      <a:schemeClr val="bg1"/>
                    </a:solidFill>
                  </a:rPr>
                  <a:t>The outcome or result you’re trying to predict (dependent variable)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CA" sz="2400" b="1" dirty="0">
                    <a:solidFill>
                      <a:schemeClr val="bg1"/>
                    </a:solidFill>
                  </a:rPr>
                  <a:t>Slope of the line (</a:t>
                </a:r>
                <a14:m>
                  <m:oMath xmlns:m="http://schemas.openxmlformats.org/officeDocument/2006/math">
                    <m:r>
                      <a:rPr lang="en-CA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CA" sz="2400" b="1" i="1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CA" sz="2400" b="1" dirty="0">
                    <a:solidFill>
                      <a:schemeClr val="bg1"/>
                    </a:solidFill>
                  </a:rPr>
                  <a:t>) </a:t>
                </a:r>
                <a:r>
                  <a:rPr lang="en-CA" sz="2400" dirty="0">
                    <a:solidFill>
                      <a:schemeClr val="bg1"/>
                    </a:solidFill>
                  </a:rPr>
                  <a:t>: </a:t>
                </a:r>
              </a:p>
              <a:p>
                <a:pPr lvl="1"/>
                <a:r>
                  <a:rPr lang="en-CA" dirty="0">
                    <a:solidFill>
                      <a:schemeClr val="bg1"/>
                    </a:solidFill>
                  </a:rPr>
                  <a:t>The average change in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 for every one-unit change in </a:t>
                </a:r>
                <a14:m>
                  <m:oMath xmlns:m="http://schemas.openxmlformats.org/officeDocument/2006/math">
                    <m:r>
                      <a:rPr lang="en-CA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.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CA" sz="2400" b="1" dirty="0">
                    <a:solidFill>
                      <a:schemeClr val="bg1"/>
                    </a:solidFill>
                  </a:rPr>
                  <a:t>Y-intercept (</a:t>
                </a:r>
                <a14:m>
                  <m:oMath xmlns:m="http://schemas.openxmlformats.org/officeDocument/2006/math">
                    <m:r>
                      <a:rPr lang="en-CA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CA" sz="2400" b="1" i="1" baseline="-25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CA" sz="2400" b="1" dirty="0">
                    <a:solidFill>
                      <a:schemeClr val="bg1"/>
                    </a:solidFill>
                  </a:rPr>
                  <a:t>) </a:t>
                </a:r>
                <a:r>
                  <a:rPr lang="en-CA" sz="2400" dirty="0">
                    <a:solidFill>
                      <a:schemeClr val="bg1"/>
                    </a:solidFill>
                  </a:rPr>
                  <a:t>:</a:t>
                </a:r>
              </a:p>
              <a:p>
                <a:pPr lvl="1"/>
                <a:r>
                  <a:rPr lang="en-CA" dirty="0">
                    <a:solidFill>
                      <a:schemeClr val="bg1"/>
                    </a:solidFill>
                  </a:rPr>
                  <a:t>The starting value of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 when </a:t>
                </a:r>
                <a14:m>
                  <m:oMath xmlns:m="http://schemas.openxmlformats.org/officeDocument/2006/math">
                    <m:r>
                      <a:rPr lang="en-CA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487A76-2E36-038F-43C6-E1F5CD1B7F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64978"/>
                <a:ext cx="10835243" cy="4351338"/>
              </a:xfrm>
              <a:blipFill>
                <a:blip r:embed="rId3"/>
                <a:stretch>
                  <a:fillRect l="-820" t="-872" b="-4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81829E82-3024-C6E4-AACB-8F67F840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regression problem: Finding the line of best fit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CA93E0-2F1B-9181-9AB5-46F8AC4400B6}"/>
                  </a:ext>
                </a:extLst>
              </p:cNvPr>
              <p:cNvSpPr txBox="1"/>
              <p:nvPr/>
            </p:nvSpPr>
            <p:spPr>
              <a:xfrm>
                <a:off x="3207821" y="1864978"/>
                <a:ext cx="6096000" cy="58477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CA" sz="3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CA" sz="3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CA93E0-2F1B-9181-9AB5-46F8AC440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821" y="1864978"/>
                <a:ext cx="6096000" cy="584775"/>
              </a:xfrm>
              <a:prstGeom prst="rect">
                <a:avLst/>
              </a:prstGeom>
              <a:blipFill>
                <a:blip r:embed="rId4"/>
                <a:stretch>
                  <a:fillRect b="-25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55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997C7C-C6F0-D53C-FF2D-BEDDFD96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09AF6-28AB-A3AE-12A1-3461E0AA8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Example data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076FB-642A-9907-554C-9149DAFC0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537587"/>
            <a:ext cx="7814295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We’ll use housing data from Sacramento to see if we can predict sale price from house size.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Key features: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Houses (rows)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A single predictor or explanatory variable (house size, in square feet)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Numeric response variable or outcome (house sale price, in USD)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pic>
        <p:nvPicPr>
          <p:cNvPr id="3074" name="Picture 2" descr="House clipart Images - Free Download on Freepik">
            <a:extLst>
              <a:ext uri="{FF2B5EF4-FFF2-40B4-BE49-F238E27FC236}">
                <a16:creationId xmlns:a16="http://schemas.microsoft.com/office/drawing/2014/main" id="{FF60BFF2-73F2-3BF2-92D9-4E80A6325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8451" y="2581987"/>
            <a:ext cx="2415639" cy="241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and drawn cartoon dollar sign illustration | Free Vector">
            <a:extLst>
              <a:ext uri="{FF2B5EF4-FFF2-40B4-BE49-F238E27FC236}">
                <a16:creationId xmlns:a16="http://schemas.microsoft.com/office/drawing/2014/main" id="{DFE938BC-09E2-9851-5A4E-778351E90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1" t="11058" r="24649" b="8694"/>
          <a:stretch/>
        </p:blipFill>
        <p:spPr bwMode="auto">
          <a:xfrm>
            <a:off x="8516423" y="2858837"/>
            <a:ext cx="930215" cy="1297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4491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4F7D2-4897-C911-C7BA-FBA2DF254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C3CBA-CDD6-6F65-298C-F427DCDC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4F239-8A08-47F6-2ACB-4B85F15D4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9" y="1624327"/>
            <a:ext cx="4677394" cy="4351338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Visualizing the relationship between house size (predictor) and sale price (response) suggests a positive correlation</a:t>
            </a:r>
            <a:r>
              <a:rPr lang="en-CA" sz="2400" b="0" dirty="0">
                <a:solidFill>
                  <a:schemeClr val="bg1"/>
                </a:solidFill>
                <a:effectLst/>
                <a:sym typeface="Wingdings" pitchFamily="2" charset="2"/>
              </a:rPr>
              <a:t>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 </a:t>
            </a:r>
            <a:r>
              <a:rPr lang="en-CA" sz="2400" b="1" dirty="0">
                <a:solidFill>
                  <a:schemeClr val="bg1"/>
                </a:solidFill>
                <a:effectLst/>
              </a:rPr>
              <a:t>as house size increases, sale price tends to rise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.</a:t>
            </a:r>
            <a:br>
              <a:rPr lang="en-CA" sz="2400" b="0" dirty="0">
                <a:solidFill>
                  <a:schemeClr val="bg1"/>
                </a:solidFill>
                <a:effectLst/>
              </a:rPr>
            </a:br>
            <a:endParaRPr lang="en-CA" sz="2400" b="0" dirty="0">
              <a:solidFill>
                <a:schemeClr val="bg1"/>
              </a:solidFill>
              <a:effectLst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This pattern also indicates that we could potentially predict a home’s sale price based on its size, even if it hasn’t been sold yet.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3BBF93-2F22-69A3-4369-E5622AED6B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698"/>
          <a:stretch/>
        </p:blipFill>
        <p:spPr>
          <a:xfrm>
            <a:off x="5814667" y="365125"/>
            <a:ext cx="5238344" cy="608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710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D6E3D-2897-D639-FC62-8601E510E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0E86-1FC8-9D5E-D586-4AE9718E9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assumptions in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D449A-F0CE-6E5A-0C9A-CF776EAD6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082" y="1690688"/>
            <a:ext cx="6796847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  <a:effectLst/>
              </a:rPr>
              <a:t>Test these assumptions </a:t>
            </a:r>
            <a:r>
              <a:rPr lang="en-CA" sz="2400" b="1" u="sng" dirty="0">
                <a:solidFill>
                  <a:schemeClr val="bg1"/>
                </a:solidFill>
              </a:rPr>
              <a:t>b</a:t>
            </a:r>
            <a:r>
              <a:rPr lang="en-CA" sz="2400" b="1" u="sng" dirty="0">
                <a:solidFill>
                  <a:schemeClr val="bg1"/>
                </a:solidFill>
                <a:effectLst/>
              </a:rPr>
              <a:t>efore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 running the model: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CA" sz="2400" b="1" dirty="0">
                <a:solidFill>
                  <a:schemeClr val="bg1"/>
                </a:solidFill>
                <a:effectLst/>
              </a:rPr>
              <a:t>Linearity</a:t>
            </a:r>
            <a:r>
              <a:rPr lang="en-CA" sz="2400" dirty="0">
                <a:solidFill>
                  <a:schemeClr val="bg1"/>
                </a:solidFill>
              </a:rPr>
              <a:t>: </a:t>
            </a:r>
            <a:r>
              <a:rPr lang="en-CA" sz="2400" b="0" dirty="0">
                <a:solidFill>
                  <a:schemeClr val="bg1"/>
                </a:solidFill>
                <a:effectLst/>
                <a:sym typeface="Wingdings" pitchFamily="2" charset="2"/>
              </a:rPr>
              <a:t>The relationship between the variables is roughly a straight line.</a:t>
            </a:r>
          </a:p>
          <a:p>
            <a:pPr lvl="1"/>
            <a:r>
              <a:rPr lang="en-CA" b="0" dirty="0">
                <a:solidFill>
                  <a:schemeClr val="bg1"/>
                </a:solidFill>
                <a:effectLst/>
              </a:rPr>
              <a:t>Can visually check by plotting the data</a:t>
            </a:r>
          </a:p>
          <a:p>
            <a:pPr lvl="1"/>
            <a:endParaRPr lang="en-CA" b="0" dirty="0">
              <a:solidFill>
                <a:schemeClr val="bg1"/>
              </a:solidFill>
              <a:effectLst/>
            </a:endParaRPr>
          </a:p>
          <a:p>
            <a:pPr marL="457200" indent="-457200"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Independence</a:t>
            </a:r>
            <a:r>
              <a:rPr lang="en-CA" sz="2400" b="1" dirty="0">
                <a:solidFill>
                  <a:schemeClr val="bg1"/>
                </a:solidFill>
                <a:effectLst/>
              </a:rPr>
              <a:t>: </a:t>
            </a:r>
            <a:r>
              <a:rPr lang="en-CA" sz="2400" b="0" dirty="0">
                <a:solidFill>
                  <a:schemeClr val="bg1"/>
                </a:solidFill>
                <a:effectLst/>
                <a:sym typeface="Wingdings" pitchFamily="2" charset="2"/>
              </a:rPr>
              <a:t>Each observation is drawn randomly from the population.</a:t>
            </a:r>
          </a:p>
          <a:p>
            <a:pPr lvl="1"/>
            <a:r>
              <a:rPr lang="en-CA" dirty="0">
                <a:solidFill>
                  <a:schemeClr val="bg1"/>
                </a:solidFill>
                <a:sym typeface="Wingdings" pitchFamily="2" charset="2"/>
              </a:rPr>
              <a:t>This assumption is usually inherent in how the data is collected</a:t>
            </a:r>
            <a:endParaRPr lang="en-CA" b="0" dirty="0">
              <a:solidFill>
                <a:schemeClr val="bg1"/>
              </a:solidFill>
              <a:effectLst/>
              <a:sym typeface="Wingdings" pitchFamily="2" charset="2"/>
            </a:endParaRPr>
          </a:p>
          <a:p>
            <a:pPr lvl="1"/>
            <a:endParaRPr lang="en-CA" sz="2000" b="0" dirty="0">
              <a:solidFill>
                <a:schemeClr val="bg1"/>
              </a:solidFill>
              <a:effectLst/>
            </a:endParaRPr>
          </a:p>
        </p:txBody>
      </p:sp>
      <p:pic>
        <p:nvPicPr>
          <p:cNvPr id="13" name="Picture 12" descr="A screenshot of a graph&#10;&#10;Description automatically generated">
            <a:extLst>
              <a:ext uri="{FF2B5EF4-FFF2-40B4-BE49-F238E27FC236}">
                <a16:creationId xmlns:a16="http://schemas.microsoft.com/office/drawing/2014/main" id="{68142FE5-35BB-D8D9-447B-16D1EF863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929" y="1690688"/>
            <a:ext cx="4051300" cy="4826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44CF8CB-CEFD-DACB-9111-1F44A525C795}"/>
              </a:ext>
            </a:extLst>
          </p:cNvPr>
          <p:cNvSpPr/>
          <p:nvPr/>
        </p:nvSpPr>
        <p:spPr>
          <a:xfrm>
            <a:off x="7872413" y="4260851"/>
            <a:ext cx="3816816" cy="2413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7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31C6C-BDD7-5FDE-E25A-4A3B4CB67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85C7-74D0-348D-29D5-89778CE4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70C029-31B4-32EB-F976-4055FFCA35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94627"/>
                <a:ext cx="10835243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h𝑜𝑢𝑠𝑒</m:t>
                      </m:r>
                      <m:r>
                        <a:rPr lang="en-CA" sz="3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3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𝑝𝑟𝑖𝑐𝑒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CA" sz="32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CA" sz="3200" b="0" i="1" baseline="-250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CA" sz="3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h𝑜𝑢𝑠𝑒</m:t>
                      </m:r>
                      <m:r>
                        <a:rPr lang="en-CA" sz="3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3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CA" sz="3200" b="0" i="1" baseline="-250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2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CA" sz="2400" dirty="0">
                    <a:solidFill>
                      <a:schemeClr val="bg1"/>
                    </a:solidFill>
                  </a:rPr>
                  <a:t>where: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sz="2400" b="0" i="1" baseline="-25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CA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2400" dirty="0">
                    <a:solidFill>
                      <a:schemeClr val="bg1"/>
                    </a:solidFill>
                  </a:rPr>
                  <a:t>is the vertical intercept (price when house size is </a:t>
                </a:r>
                <a14:m>
                  <m:oMath xmlns:m="http://schemas.openxmlformats.org/officeDocument/2006/math">
                    <m:r>
                      <a:rPr lang="en-CA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CA" sz="2400" dirty="0">
                    <a:solidFill>
                      <a:schemeClr val="bg1"/>
                    </a:solidFill>
                  </a:rPr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sz="2400" b="0" i="1" baseline="-25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CA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2400" dirty="0">
                    <a:solidFill>
                      <a:schemeClr val="bg1"/>
                    </a:solidFill>
                  </a:rPr>
                  <a:t>is the slope (rate of price increase as house size increases)</a:t>
                </a:r>
                <a:br>
                  <a:rPr lang="en-CA" sz="2400" dirty="0">
                    <a:solidFill>
                      <a:schemeClr val="bg1"/>
                    </a:solidFill>
                  </a:rPr>
                </a:br>
                <a:endParaRPr lang="en-CA" sz="2400" dirty="0">
                  <a:solidFill>
                    <a:schemeClr val="bg1"/>
                  </a:solidFill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CA" sz="2400" dirty="0">
                    <a:solidFill>
                      <a:schemeClr val="bg1"/>
                    </a:solidFill>
                  </a:rPr>
                  <a:t>Finding the line of best fit involves determining coefficients </a:t>
                </a:r>
                <a14:m>
                  <m:oMath xmlns:m="http://schemas.openxmlformats.org/officeDocument/2006/math">
                    <m:r>
                      <a:rPr lang="en-CA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sz="2400" b="0" i="1" baseline="-25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CA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24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CA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sz="2400" i="1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CA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2400" dirty="0">
                    <a:solidFill>
                      <a:schemeClr val="bg1"/>
                    </a:solidFill>
                  </a:rPr>
                  <a:t>that define the line.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b="0" i="1" baseline="-25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CA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represents the "base price"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b="0" i="1" baseline="-25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CA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is the price increase per square foot</a:t>
                </a:r>
              </a:p>
              <a:p>
                <a:pPr marL="0" indent="0">
                  <a:buNone/>
                </a:pPr>
                <a:endParaRPr lang="en-CA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70C029-31B4-32EB-F976-4055FFCA35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94627"/>
                <a:ext cx="10835243" cy="4351338"/>
              </a:xfrm>
              <a:blipFill>
                <a:blip r:embed="rId3"/>
                <a:stretch>
                  <a:fillRect l="-937" t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285B06B-2A9D-00BB-18BC-B00E9B9346BB}"/>
              </a:ext>
            </a:extLst>
          </p:cNvPr>
          <p:cNvSpPr txBox="1"/>
          <p:nvPr/>
        </p:nvSpPr>
        <p:spPr>
          <a:xfrm>
            <a:off x="838200" y="1568787"/>
            <a:ext cx="10348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The equation for the straight line in simple linear regression is:</a:t>
            </a:r>
          </a:p>
        </p:txBody>
      </p:sp>
    </p:spTree>
    <p:extLst>
      <p:ext uri="{BB962C8B-B14F-4D97-AF65-F5344CB8AC3E}">
        <p14:creationId xmlns:p14="http://schemas.microsoft.com/office/powerpoint/2010/main" val="3809486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B3AD5-CB3B-2F76-4E65-5BDC0CB1F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F1A4C-9EE0-91B6-687F-E41ED3C29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9" y="1101813"/>
            <a:ext cx="4677394" cy="4351338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To decide whether the $350,000 asking price for the 2,000 square-foot house is fair, we can use our existing data to predict its likely sale price.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However, since there are no exact observations for a 2,000 square-foot house in our dataset, we need a method to estimate the price.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Using simple linear regression, we can use the data to draw a </a:t>
            </a:r>
            <a:r>
              <a:rPr lang="en-CA" sz="2400" b="0" dirty="0">
                <a:solidFill>
                  <a:srgbClr val="3366FF"/>
                </a:solidFill>
                <a:effectLst/>
              </a:rPr>
              <a:t>straight line of best fit through our existing data points.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DD8409-5073-C7F3-355A-59FA96B272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31"/>
          <a:stretch/>
        </p:blipFill>
        <p:spPr>
          <a:xfrm>
            <a:off x="5803652" y="373944"/>
            <a:ext cx="5233315" cy="600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71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6EBD1E-A402-E8D2-BE24-18D3904DA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D730D-3A26-FB8F-297F-837D59705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9" y="1547756"/>
            <a:ext cx="4924421" cy="4351338"/>
          </a:xfrm>
        </p:spPr>
        <p:txBody>
          <a:bodyPr>
            <a:no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Once we have the coefficients, we can use the equation to estimate the predicted sale price given the value we have for the predictor variable—</a:t>
            </a:r>
            <a:r>
              <a:rPr lang="en-CA" sz="2400" dirty="0">
                <a:solidFill>
                  <a:schemeClr val="bg1"/>
                </a:solidFill>
                <a:effectLst/>
              </a:rPr>
              <a:t>e.g. 2,000 square feet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.</a:t>
            </a:r>
          </a:p>
          <a:p>
            <a:r>
              <a:rPr lang="en-CA" sz="2400" dirty="0">
                <a:solidFill>
                  <a:schemeClr val="bg1"/>
                </a:solidFill>
              </a:rPr>
              <a:t>For every additional square foot, price increases by approximately $135 on average.</a:t>
            </a:r>
            <a:endParaRPr lang="en-CA" sz="2400" b="0" dirty="0">
              <a:solidFill>
                <a:schemeClr val="bg1"/>
              </a:solidFill>
              <a:effectLst/>
            </a:endParaRPr>
          </a:p>
          <a:p>
            <a:r>
              <a:rPr lang="en-CA" sz="2400" b="0" dirty="0">
                <a:solidFill>
                  <a:schemeClr val="bg1"/>
                </a:solidFill>
                <a:effectLst/>
              </a:rPr>
              <a:t>This gives us a simple way to estimate price for any home size within our data range; extrapolate only when logically justified.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BA53EA-8F3B-79AE-D534-961A38737B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93"/>
          <a:stretch/>
        </p:blipFill>
        <p:spPr>
          <a:xfrm>
            <a:off x="5803653" y="1113905"/>
            <a:ext cx="5347278" cy="5266542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D2DA128-A356-91AD-32A2-2BDB32625764}"/>
              </a:ext>
            </a:extLst>
          </p:cNvPr>
          <p:cNvSpPr/>
          <p:nvPr/>
        </p:nvSpPr>
        <p:spPr>
          <a:xfrm>
            <a:off x="8311900" y="4164747"/>
            <a:ext cx="153681" cy="13831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0E266E-6B5C-BFA8-DDA7-7547D258BBD3}"/>
              </a:ext>
            </a:extLst>
          </p:cNvPr>
          <p:cNvCxnSpPr/>
          <p:nvPr/>
        </p:nvCxnSpPr>
        <p:spPr>
          <a:xfrm flipV="1">
            <a:off x="8384098" y="4233903"/>
            <a:ext cx="0" cy="1665191"/>
          </a:xfrm>
          <a:prstGeom prst="line">
            <a:avLst/>
          </a:prstGeom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9EB5A99-72CB-8C92-2AFF-B7FACB9A8EB9}"/>
              </a:ext>
            </a:extLst>
          </p:cNvPr>
          <p:cNvSpPr/>
          <p:nvPr/>
        </p:nvSpPr>
        <p:spPr>
          <a:xfrm>
            <a:off x="2890894" y="2895998"/>
            <a:ext cx="2528971" cy="3628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2,000 square feet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454040-3822-971B-5708-A93193FA1F5F}"/>
              </a:ext>
            </a:extLst>
          </p:cNvPr>
          <p:cNvSpPr/>
          <p:nvPr/>
        </p:nvSpPr>
        <p:spPr>
          <a:xfrm>
            <a:off x="8495054" y="4426004"/>
            <a:ext cx="1503900" cy="3628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$286,200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D8C2E1-2F31-0EE3-5394-156A3E0A2886}"/>
                  </a:ext>
                </a:extLst>
              </p:cNvPr>
              <p:cNvSpPr txBox="1"/>
              <p:nvPr/>
            </p:nvSpPr>
            <p:spPr>
              <a:xfrm>
                <a:off x="5803653" y="6332700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h𝑜𝑢𝑠𝑒</m:t>
                      </m:r>
                      <m:r>
                        <a:rPr lang="en-CA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𝑝𝑟𝑖𝑐𝑒</m:t>
                      </m:r>
                      <m:r>
                        <a:rPr lang="en-CA" sz="1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CA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  <m:r>
                            <a:rPr lang="en-CA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CA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h𝑜𝑢𝑠𝑒</m:t>
                      </m:r>
                      <m:r>
                        <a:rPr lang="en-CA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CA" sz="1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CA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</m:t>
                      </m:r>
                      <m:r>
                        <a:rPr lang="en-CA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,200</m:t>
                      </m:r>
                      <m:r>
                        <a:rPr lang="en-CA" sz="1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1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D8C2E1-2F31-0EE3-5394-156A3E0A2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653" y="6332700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0B984F-DAE3-8A8C-4244-5F7ADE2A3B23}"/>
              </a:ext>
            </a:extLst>
          </p:cNvPr>
          <p:cNvCxnSpPr>
            <a:cxnSpLocks/>
          </p:cNvCxnSpPr>
          <p:nvPr/>
        </p:nvCxnSpPr>
        <p:spPr>
          <a:xfrm flipH="1">
            <a:off x="6610120" y="4233903"/>
            <a:ext cx="1701780" cy="0"/>
          </a:xfrm>
          <a:prstGeom prst="line">
            <a:avLst/>
          </a:prstGeom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232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C091EF-68BD-5521-A20B-A552B1DDB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D00B-6A3F-BC56-1FC0-50C2CBEF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57011"/>
            <a:ext cx="5098143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Choosing the line of best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FDCA3-140E-BC76-3C1A-435492A6A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24327"/>
            <a:ext cx="4541323" cy="4351338"/>
          </a:xfrm>
        </p:spPr>
        <p:txBody>
          <a:bodyPr>
            <a:noAutofit/>
          </a:bodyPr>
          <a:lstStyle/>
          <a:p>
            <a:endParaRPr lang="en-CA" sz="2400" b="0" dirty="0">
              <a:solidFill>
                <a:schemeClr val="bg1"/>
              </a:solidFill>
              <a:effectLst/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Many different lines could be drawn through the data points; how do we choose the line of best fit? </a:t>
            </a:r>
          </a:p>
          <a:p>
            <a:pPr marL="0" indent="0">
              <a:buNone/>
            </a:pPr>
            <a:endParaRPr lang="en-CA" sz="2400" b="0" dirty="0">
              <a:solidFill>
                <a:schemeClr val="bg1"/>
              </a:solidFill>
              <a:effectLst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9B52386-FB88-7D5B-0F9B-144976080C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44"/>
          <a:stretch/>
        </p:blipFill>
        <p:spPr>
          <a:xfrm>
            <a:off x="5814667" y="757011"/>
            <a:ext cx="5675204" cy="568985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41FDD03-C32F-AE7D-9B04-703489BC3EF8}"/>
              </a:ext>
            </a:extLst>
          </p:cNvPr>
          <p:cNvCxnSpPr/>
          <p:nvPr/>
        </p:nvCxnSpPr>
        <p:spPr>
          <a:xfrm flipV="1">
            <a:off x="7039429" y="1690688"/>
            <a:ext cx="2989942" cy="3737655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629F4A-7B8C-F346-75D6-04E91A30D99D}"/>
              </a:ext>
            </a:extLst>
          </p:cNvPr>
          <p:cNvCxnSpPr>
            <a:cxnSpLocks/>
          </p:cNvCxnSpPr>
          <p:nvPr/>
        </p:nvCxnSpPr>
        <p:spPr>
          <a:xfrm flipV="1">
            <a:off x="7191829" y="2206171"/>
            <a:ext cx="3272687" cy="337457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EBAEF0-D448-D8C5-47FD-2AEFC8436874}"/>
              </a:ext>
            </a:extLst>
          </p:cNvPr>
          <p:cNvCxnSpPr>
            <a:cxnSpLocks/>
          </p:cNvCxnSpPr>
          <p:nvPr/>
        </p:nvCxnSpPr>
        <p:spPr>
          <a:xfrm flipV="1">
            <a:off x="7547429" y="1814286"/>
            <a:ext cx="2551028" cy="388982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A269CF-9675-BBAA-9DE8-82F5882FDC77}"/>
              </a:ext>
            </a:extLst>
          </p:cNvPr>
          <p:cNvCxnSpPr>
            <a:cxnSpLocks/>
          </p:cNvCxnSpPr>
          <p:nvPr/>
        </p:nvCxnSpPr>
        <p:spPr>
          <a:xfrm flipV="1">
            <a:off x="7366047" y="2394857"/>
            <a:ext cx="3359103" cy="3309257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57BBE2A-DBFD-17E3-153C-886B729F7DCF}"/>
              </a:ext>
            </a:extLst>
          </p:cNvPr>
          <p:cNvSpPr txBox="1"/>
          <p:nvPr/>
        </p:nvSpPr>
        <p:spPr>
          <a:xfrm>
            <a:off x="838200" y="3990597"/>
            <a:ext cx="45413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Simple linear regression finds the line of best fit by </a:t>
            </a:r>
            <a:r>
              <a:rPr lang="en-CA" sz="2400" b="1" dirty="0">
                <a:solidFill>
                  <a:schemeClr val="bg1"/>
                </a:solidFill>
              </a:rPr>
              <a:t>making the predicted values as close as possible to the actual data points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page10image54870224">
            <a:extLst>
              <a:ext uri="{FF2B5EF4-FFF2-40B4-BE49-F238E27FC236}">
                <a16:creationId xmlns:a16="http://schemas.microsoft.com/office/drawing/2014/main" id="{02EA8224-0A61-C80F-FB60-C32D04181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278" y="1708977"/>
            <a:ext cx="4039633" cy="3186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765346-50EA-C4DB-1908-7F44FF9945C6}"/>
              </a:ext>
            </a:extLst>
          </p:cNvPr>
          <p:cNvSpPr txBox="1"/>
          <p:nvPr/>
        </p:nvSpPr>
        <p:spPr>
          <a:xfrm>
            <a:off x="7366047" y="4868519"/>
            <a:ext cx="3365864" cy="10156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</a:rPr>
              <a:t>Error, or </a:t>
            </a:r>
            <a:r>
              <a:rPr lang="en-CA" sz="2000" b="1" dirty="0">
                <a:solidFill>
                  <a:schemeClr val="bg1"/>
                </a:solidFill>
              </a:rPr>
              <a:t>residuals</a:t>
            </a:r>
            <a:r>
              <a:rPr lang="en-CA" sz="2000" dirty="0">
                <a:solidFill>
                  <a:schemeClr val="bg1"/>
                </a:solidFill>
              </a:rPr>
              <a:t>, measure how far each data point is from the regression line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86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1B9BDD-7F8F-958C-9237-6A4F5B140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diagram of different types of distribution&#10;&#10;Description automatically generated">
            <a:extLst>
              <a:ext uri="{FF2B5EF4-FFF2-40B4-BE49-F238E27FC236}">
                <a16:creationId xmlns:a16="http://schemas.microsoft.com/office/drawing/2014/main" id="{D9410062-B43F-9621-FD95-9B27FAE50D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1" b="48826"/>
          <a:stretch/>
        </p:blipFill>
        <p:spPr>
          <a:xfrm>
            <a:off x="6955518" y="2541494"/>
            <a:ext cx="5021329" cy="18586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D26A9F-FE3E-EFDD-D059-44C16D1FB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assumptions in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1EEC2-EBC4-F67A-FB34-0ED147C63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823" y="1691105"/>
            <a:ext cx="622569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  <a:effectLst/>
              </a:rPr>
              <a:t>Test these assumptions </a:t>
            </a:r>
            <a:r>
              <a:rPr lang="en-CA" sz="2400" b="1" u="sng" dirty="0">
                <a:solidFill>
                  <a:schemeClr val="bg1"/>
                </a:solidFill>
              </a:rPr>
              <a:t>after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 running the model: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Constant Variance of Errors: </a:t>
            </a:r>
            <a:r>
              <a:rPr lang="en-CA" sz="2400" dirty="0">
                <a:solidFill>
                  <a:schemeClr val="bg1"/>
                </a:solidFill>
              </a:rPr>
              <a:t>The errors should be consistent for all values of the predictor.</a:t>
            </a:r>
          </a:p>
          <a:p>
            <a:pPr lvl="1"/>
            <a:r>
              <a:rPr lang="en-CA" b="0" dirty="0">
                <a:solidFill>
                  <a:schemeClr val="bg1"/>
                </a:solidFill>
                <a:effectLst/>
              </a:rPr>
              <a:t>Can visually check by plotting </a:t>
            </a:r>
            <a:r>
              <a:rPr lang="en-CA" dirty="0">
                <a:solidFill>
                  <a:schemeClr val="bg1"/>
                </a:solidFill>
              </a:rPr>
              <a:t>the errors versus predicted values</a:t>
            </a:r>
            <a:endParaRPr lang="en-CA" b="0" dirty="0">
              <a:solidFill>
                <a:schemeClr val="bg1"/>
              </a:solidFill>
              <a:effectLst/>
            </a:endParaRPr>
          </a:p>
          <a:p>
            <a:pPr marL="457200" indent="-457200"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Normality of Errors: </a:t>
            </a:r>
            <a:r>
              <a:rPr lang="en-CA" sz="2400" dirty="0">
                <a:solidFill>
                  <a:schemeClr val="bg1"/>
                </a:solidFill>
              </a:rPr>
              <a:t>The errors should follow a roughly normal distribution.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Can visually check by plotting Quantile-Quantile (QQ) plot or histogram of errors</a:t>
            </a:r>
            <a:endParaRPr lang="en-CA" b="0" dirty="0">
              <a:solidFill>
                <a:schemeClr val="bg1"/>
              </a:solidFill>
              <a:effectLst/>
            </a:endParaRPr>
          </a:p>
        </p:txBody>
      </p:sp>
      <p:pic>
        <p:nvPicPr>
          <p:cNvPr id="33" name="Picture 32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02515DC3-A7B3-CB68-2C23-F3B345BFEB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675" b="51915"/>
          <a:stretch/>
        </p:blipFill>
        <p:spPr>
          <a:xfrm>
            <a:off x="7635614" y="1850751"/>
            <a:ext cx="4003689" cy="2264050"/>
          </a:xfrm>
          <a:prstGeom prst="rect">
            <a:avLst/>
          </a:prstGeom>
        </p:spPr>
      </p:pic>
      <p:pic>
        <p:nvPicPr>
          <p:cNvPr id="36" name="Picture 35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057F0D08-85ED-6FF0-FA0A-33B8DFEB24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084" r="28675" b="4809"/>
          <a:stretch/>
        </p:blipFill>
        <p:spPr>
          <a:xfrm>
            <a:off x="7635614" y="4114801"/>
            <a:ext cx="4003689" cy="221801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170F6A3-C490-A3C6-FE61-187C615722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96" b="1896"/>
          <a:stretch/>
        </p:blipFill>
        <p:spPr>
          <a:xfrm>
            <a:off x="6955518" y="4400550"/>
            <a:ext cx="5021329" cy="209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7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00847C-0A60-55F2-AF8B-CC4F81FFD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64B3FE2-B358-4369-9EE0-D84C13711C68}"/>
              </a:ext>
            </a:extLst>
          </p:cNvPr>
          <p:cNvSpPr txBox="1">
            <a:spLocks/>
          </p:cNvSpPr>
          <p:nvPr/>
        </p:nvSpPr>
        <p:spPr>
          <a:xfrm>
            <a:off x="702128" y="517525"/>
            <a:ext cx="106516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Evaluating model fit: RMSE and R</a:t>
            </a:r>
            <a:r>
              <a:rPr kumimoji="0" lang="en-US" sz="4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2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</a:p>
        </p:txBody>
      </p:sp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A37EBA58-FDEA-703B-4F8C-1330234E30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2386797"/>
              </p:ext>
            </p:extLst>
          </p:nvPr>
        </p:nvGraphicFramePr>
        <p:xfrm>
          <a:off x="827909" y="2173099"/>
          <a:ext cx="10536182" cy="32218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109851">
                  <a:extLst>
                    <a:ext uri="{9D8B030D-6E8A-4147-A177-3AD203B41FA5}">
                      <a16:colId xmlns:a16="http://schemas.microsoft.com/office/drawing/2014/main" val="23861919"/>
                    </a:ext>
                  </a:extLst>
                </a:gridCol>
                <a:gridCol w="5426331">
                  <a:extLst>
                    <a:ext uri="{9D8B030D-6E8A-4147-A177-3AD203B41FA5}">
                      <a16:colId xmlns:a16="http://schemas.microsoft.com/office/drawing/2014/main" val="3731617711"/>
                    </a:ext>
                  </a:extLst>
                </a:gridCol>
              </a:tblGrid>
              <a:tr h="5701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Root Mean Square Error (RMSE)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Coefficient of Determination (R²)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9096809"/>
                  </a:ext>
                </a:extLst>
              </a:tr>
              <a:tr h="2596885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Shows how far, on average, the predicted values are from the actual values.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Lower RMSE → better model fit 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(smaller prediction errors).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Tells us how much of the variation in the outcome (𝑦) is explained by the predictor (𝑥).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Ranges from 0 to 1: 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higher values 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sym typeface="Wingdings" pitchFamily="2" charset="2"/>
                        </a:rPr>
                        <a:t>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model explains more variation.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In simple linear regression, R² = r² (the square of the correlation).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854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129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095F5-401A-319F-B7BA-9F230A071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1C0FC37-C211-4951-00A1-E1C626E1EB49}"/>
              </a:ext>
            </a:extLst>
          </p:cNvPr>
          <p:cNvSpPr txBox="1">
            <a:spLocks/>
          </p:cNvSpPr>
          <p:nvPr/>
        </p:nvSpPr>
        <p:spPr>
          <a:xfrm>
            <a:off x="702128" y="517525"/>
            <a:ext cx="106516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Evaluating model fit: RMSE and R</a:t>
            </a:r>
            <a:r>
              <a:rPr kumimoji="0" lang="en-US" sz="4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2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</a:p>
        </p:txBody>
      </p:sp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20CE55A8-4286-E4C8-E5F8-57F0ED8842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2525679"/>
              </p:ext>
            </p:extLst>
          </p:nvPr>
        </p:nvGraphicFramePr>
        <p:xfrm>
          <a:off x="827909" y="2173099"/>
          <a:ext cx="10536182" cy="32218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109851">
                  <a:extLst>
                    <a:ext uri="{9D8B030D-6E8A-4147-A177-3AD203B41FA5}">
                      <a16:colId xmlns:a16="http://schemas.microsoft.com/office/drawing/2014/main" val="23861919"/>
                    </a:ext>
                  </a:extLst>
                </a:gridCol>
                <a:gridCol w="5426331">
                  <a:extLst>
                    <a:ext uri="{9D8B030D-6E8A-4147-A177-3AD203B41FA5}">
                      <a16:colId xmlns:a16="http://schemas.microsoft.com/office/drawing/2014/main" val="3731617711"/>
                    </a:ext>
                  </a:extLst>
                </a:gridCol>
              </a:tblGrid>
              <a:tr h="5701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>
                              <a:lumMod val="90000"/>
                            </a:schemeClr>
                          </a:solidFill>
                        </a:rPr>
                        <a:t>Root Mean Square Error (RMSE)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Coefficient of Determination (R²)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9096809"/>
                  </a:ext>
                </a:extLst>
              </a:tr>
              <a:tr h="2596885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2">
                              <a:lumMod val="90000"/>
                            </a:schemeClr>
                          </a:solidFill>
                        </a:rPr>
                        <a:t>Shows how far, on average, the predicted values are from the actual values.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dirty="0">
                          <a:solidFill>
                            <a:schemeClr val="tx2">
                              <a:lumMod val="90000"/>
                            </a:schemeClr>
                          </a:solidFill>
                        </a:rPr>
                        <a:t>Lower RMSE → better model fit </a:t>
                      </a:r>
                      <a:r>
                        <a:rPr lang="en-US" sz="2400" dirty="0">
                          <a:solidFill>
                            <a:schemeClr val="tx2">
                              <a:lumMod val="90000"/>
                            </a:schemeClr>
                          </a:solidFill>
                        </a:rPr>
                        <a:t>(smaller prediction errors).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Tells us how much of the variation in the outcome (𝑦) is explained by the predictor (𝑥).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Ranges from 0 to 1: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higher values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sym typeface="Wingdings" pitchFamily="2" charset="2"/>
                        </a:rPr>
                        <a:t>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 model explains more variation.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In simple linear regression, R² = r² (the square of the correlation).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854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027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A28F4-AC33-A630-0221-68F4AAFCD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A160-DC60-44FC-E2EF-3CD552697F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Putting it all together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19B48-3E6F-DD32-D902-EC770F7A1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36217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3200" b="1" dirty="0"/>
              <a:t>Correlation &amp; simple linear regression in R</a:t>
            </a:r>
            <a:endParaRPr lang="en-US" sz="1800" dirty="0"/>
          </a:p>
          <a:p>
            <a:pPr algn="l"/>
            <a:endParaRPr lang="en-US" sz="3200" dirty="0"/>
          </a:p>
          <a:p>
            <a:pPr algn="l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46567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4CDA5-2C2C-5B29-DA69-7A82C6F67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B5FD3-10B8-35BA-ECA2-853126AB6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1" y="365125"/>
            <a:ext cx="11123997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Load in packages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C609C3-B402-B3FE-EABA-352393831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1" y="1690688"/>
            <a:ext cx="11123997" cy="4802400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endParaRPr lang="en-US" sz="2400" dirty="0"/>
          </a:p>
          <a:p>
            <a:pPr marL="0" indent="0">
              <a:buNone/>
            </a:pPr>
            <a:r>
              <a:rPr lang="en-CA" sz="24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library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ggplot2</a:t>
            </a:r>
            <a:r>
              <a:rPr lang="en-CA" sz="2400" b="0" dirty="0"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529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DAB7D-5E60-036A-673E-B65DF376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CB2B-CF47-827E-764B-B60C511ED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758" y="366437"/>
            <a:ext cx="11105042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Load and preview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2F635E-BCB9-919A-B3C0-A935328CE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2000"/>
            <a:ext cx="11124000" cy="4802400"/>
          </a:xfrm>
          <a:solidFill>
            <a:schemeClr val="tx2">
              <a:lumMod val="25000"/>
            </a:schemeClr>
          </a:solidFill>
        </p:spPr>
        <p:txBody>
          <a:bodyPr/>
          <a:lstStyle/>
          <a:p>
            <a:pPr marL="0" indent="0">
              <a:buNone/>
            </a:pPr>
            <a:endParaRPr lang="en-CA" sz="2400" dirty="0">
              <a:solidFill>
                <a:srgbClr val="9CDCFE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CA" sz="24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CA" sz="24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read.csv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”</a:t>
            </a:r>
            <a:r>
              <a:rPr lang="en-CA" sz="24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sacramento.csv</a:t>
            </a:r>
            <a:r>
              <a:rPr lang="en-CA" sz="2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-CA" sz="24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head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dirty="0">
                <a:latin typeface="Menlo" panose="020B0609030804020204" pitchFamily="49" charset="0"/>
              </a:rPr>
              <a:t>) </a:t>
            </a:r>
            <a:r>
              <a:rPr lang="en-CA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View first few rows</a:t>
            </a:r>
            <a:endParaRPr lang="en-US"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03B3BF-3594-2B50-C256-13066B97E0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815006"/>
              </p:ext>
            </p:extLst>
          </p:nvPr>
        </p:nvGraphicFramePr>
        <p:xfrm>
          <a:off x="1054902" y="3429000"/>
          <a:ext cx="9509312" cy="2367816"/>
        </p:xfrm>
        <a:graphic>
          <a:graphicData uri="http://schemas.openxmlformats.org/drawingml/2006/table">
            <a:tbl>
              <a:tblPr/>
              <a:tblGrid>
                <a:gridCol w="3291811">
                  <a:extLst>
                    <a:ext uri="{9D8B030D-6E8A-4147-A177-3AD203B41FA5}">
                      <a16:colId xmlns:a16="http://schemas.microsoft.com/office/drawing/2014/main" val="1744597792"/>
                    </a:ext>
                  </a:extLst>
                </a:gridCol>
                <a:gridCol w="1961322">
                  <a:extLst>
                    <a:ext uri="{9D8B030D-6E8A-4147-A177-3AD203B41FA5}">
                      <a16:colId xmlns:a16="http://schemas.microsoft.com/office/drawing/2014/main" val="203538660"/>
                    </a:ext>
                  </a:extLst>
                </a:gridCol>
                <a:gridCol w="1139687">
                  <a:extLst>
                    <a:ext uri="{9D8B030D-6E8A-4147-A177-3AD203B41FA5}">
                      <a16:colId xmlns:a16="http://schemas.microsoft.com/office/drawing/2014/main" val="1271417221"/>
                    </a:ext>
                  </a:extLst>
                </a:gridCol>
                <a:gridCol w="450574">
                  <a:extLst>
                    <a:ext uri="{9D8B030D-6E8A-4147-A177-3AD203B41FA5}">
                      <a16:colId xmlns:a16="http://schemas.microsoft.com/office/drawing/2014/main" val="3005710404"/>
                    </a:ext>
                  </a:extLst>
                </a:gridCol>
                <a:gridCol w="1099930">
                  <a:extLst>
                    <a:ext uri="{9D8B030D-6E8A-4147-A177-3AD203B41FA5}">
                      <a16:colId xmlns:a16="http://schemas.microsoft.com/office/drawing/2014/main" val="1448507357"/>
                    </a:ext>
                  </a:extLst>
                </a:gridCol>
                <a:gridCol w="437322">
                  <a:extLst>
                    <a:ext uri="{9D8B030D-6E8A-4147-A177-3AD203B41FA5}">
                      <a16:colId xmlns:a16="http://schemas.microsoft.com/office/drawing/2014/main" val="3671157061"/>
                    </a:ext>
                  </a:extLst>
                </a:gridCol>
                <a:gridCol w="1128666">
                  <a:extLst>
                    <a:ext uri="{9D8B030D-6E8A-4147-A177-3AD203B41FA5}">
                      <a16:colId xmlns:a16="http://schemas.microsoft.com/office/drawing/2014/main" val="3280353902"/>
                    </a:ext>
                  </a:extLst>
                </a:gridCol>
              </a:tblGrid>
              <a:tr h="394636"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street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city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zip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…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dirty="0" err="1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sq_ft</a:t>
                      </a:r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…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price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6423197"/>
                  </a:ext>
                </a:extLst>
              </a:tr>
              <a:tr h="394636"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b="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1005 MORENO WAY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SACRAMENTO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95838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1410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180000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082866"/>
                  </a:ext>
                </a:extLst>
              </a:tr>
              <a:tr h="394636"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b="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10105 MONTE VALLO CT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SACRAMENTO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95827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1578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190000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504146"/>
                  </a:ext>
                </a:extLst>
              </a:tr>
              <a:tr h="394636"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b="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10133 NEBBIOLO CT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ELK GROVE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95624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2096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289000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206652"/>
                  </a:ext>
                </a:extLst>
              </a:tr>
              <a:tr h="394636"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b="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10165 LOFTON WAY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ELK GROVE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95834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1540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266510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627537"/>
                  </a:ext>
                </a:extLst>
              </a:tr>
              <a:tr h="394636"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b="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10254 JULIANA WAY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SACRAMENTO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95827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2258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331200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86763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96B5AB5-8F3E-3209-4A09-2B44BEEE93F3}"/>
              </a:ext>
            </a:extLst>
          </p:cNvPr>
          <p:cNvSpPr txBox="1"/>
          <p:nvPr/>
        </p:nvSpPr>
        <p:spPr>
          <a:xfrm flipH="1">
            <a:off x="7885053" y="3397212"/>
            <a:ext cx="1106546" cy="246887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2557E3-A782-8BAF-BDF5-15990EA2DD9E}"/>
              </a:ext>
            </a:extLst>
          </p:cNvPr>
          <p:cNvSpPr txBox="1"/>
          <p:nvPr/>
        </p:nvSpPr>
        <p:spPr>
          <a:xfrm flipH="1">
            <a:off x="9436080" y="3429000"/>
            <a:ext cx="1128134" cy="2383203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85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  <p:bldP spid="6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3755E-00A7-D475-E61B-4B4FD2FC4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021D0-6730-348A-0A3C-D0742572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99" y="365125"/>
            <a:ext cx="11123999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Perform Pearson’s correlation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0855BA-FB9F-5451-48C2-88B606894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0687"/>
            <a:ext cx="11124000" cy="4802400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CA" sz="2400" b="0" dirty="0">
              <a:solidFill>
                <a:srgbClr val="7CA66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# Syntax = </a:t>
            </a:r>
            <a:r>
              <a:rPr lang="en-CA" sz="2400" dirty="0" err="1">
                <a:solidFill>
                  <a:srgbClr val="7CA668"/>
                </a:solidFill>
                <a:latin typeface="Menlo" panose="020B0609030804020204" pitchFamily="49" charset="0"/>
              </a:rPr>
              <a:t>cor</a:t>
            </a: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(</a:t>
            </a:r>
            <a:r>
              <a:rPr lang="en-CA" sz="2400" dirty="0" err="1">
                <a:solidFill>
                  <a:srgbClr val="7CA668"/>
                </a:solidFill>
                <a:latin typeface="Menlo" panose="020B0609030804020204" pitchFamily="49" charset="0"/>
              </a:rPr>
              <a:t>data$x</a:t>
            </a: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, </a:t>
            </a:r>
            <a:r>
              <a:rPr lang="en-CA" sz="2400" dirty="0" err="1">
                <a:solidFill>
                  <a:srgbClr val="7CA668"/>
                </a:solidFill>
                <a:latin typeface="Menlo" panose="020B0609030804020204" pitchFamily="49" charset="0"/>
              </a:rPr>
              <a:t>data$y</a:t>
            </a: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)</a:t>
            </a:r>
            <a:endParaRPr lang="en-CA" sz="2400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cor</a:t>
            </a:r>
            <a:r>
              <a:rPr lang="en-CA" sz="2400" dirty="0">
                <a:latin typeface="Menlo" panose="020B0609030804020204" pitchFamily="49" charset="0"/>
              </a:rPr>
              <a:t>(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dirty="0" err="1">
                <a:latin typeface="Menlo" panose="020B0609030804020204" pitchFamily="49" charset="0"/>
              </a:rPr>
              <a:t>$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sq_ft</a:t>
            </a:r>
            <a:r>
              <a:rPr lang="en-CA" sz="2400" dirty="0">
                <a:latin typeface="Menlo" panose="020B0609030804020204" pitchFamily="49" charset="0"/>
              </a:rPr>
              <a:t>,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 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dirty="0" err="1">
                <a:latin typeface="Menlo" panose="020B0609030804020204" pitchFamily="49" charset="0"/>
              </a:rPr>
              <a:t>$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price</a:t>
            </a:r>
            <a:r>
              <a:rPr lang="en-CA" sz="2400" dirty="0">
                <a:latin typeface="Menlo" panose="020B0609030804020204" pitchFamily="49" charset="0"/>
              </a:rPr>
              <a:t>)</a:t>
            </a:r>
            <a:endParaRPr lang="en-CA" sz="2400" b="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0.728642</a:t>
            </a:r>
          </a:p>
          <a:p>
            <a:pPr marL="0" indent="0">
              <a:buNone/>
            </a:pPr>
            <a:endParaRPr lang="en-US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# This indicates a strong positive correlation between house size and house price!</a:t>
            </a:r>
          </a:p>
          <a:p>
            <a:pPr marL="0" indent="0">
              <a:buNone/>
            </a:pPr>
            <a:endParaRPr lang="en-US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487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D81C3-E6D9-261A-A0BC-1A5F08423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6E03-982E-D3BD-9DF2-97E6B526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Plot house size vs house price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748B4F-2970-663D-2C4E-5421757DE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0687"/>
            <a:ext cx="11124000" cy="4802400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 err="1">
                <a:solidFill>
                  <a:srgbClr val="4EC9B0"/>
                </a:solidFill>
                <a:latin typeface="Menlo" panose="020B0609030804020204" pitchFamily="49" charset="0"/>
              </a:rPr>
              <a:t>g</a:t>
            </a:r>
            <a:r>
              <a:rPr lang="en-CA" sz="24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gplot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data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, </a:t>
            </a:r>
            <a:r>
              <a:rPr lang="en-CA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aes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(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x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sq_ft</a:t>
            </a:r>
            <a:r>
              <a:rPr lang="en-CA" sz="2400" dirty="0">
                <a:latin typeface="Menlo" panose="020B0609030804020204" pitchFamily="49" charset="0"/>
              </a:rPr>
              <a:t>, 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y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price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)) +</a:t>
            </a:r>
          </a:p>
          <a:p>
            <a:pPr marL="457200" lvl="1" indent="0">
              <a:buNone/>
            </a:pPr>
            <a:r>
              <a:rPr lang="en-CA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geom_point</a:t>
            </a:r>
            <a:r>
              <a:rPr lang="en-CA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CA" dirty="0">
                <a:solidFill>
                  <a:srgbClr val="FFFFFF"/>
                </a:solidFill>
                <a:latin typeface="Menlo" panose="020B0609030804020204" pitchFamily="49" charset="0"/>
              </a:rPr>
              <a:t> </a:t>
            </a:r>
            <a:r>
              <a:rPr lang="en-CA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Add scatter plot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4FC298-EA5C-514A-AB6B-B4A786E26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956" y="2435609"/>
            <a:ext cx="4539266" cy="392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28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924B8E-DE74-684E-A38B-DC763A6C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DFD5-C77B-CEEA-8C71-01627DD94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978" y="366437"/>
            <a:ext cx="11000874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Perform simple linear regression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8C1D6F-4751-A022-7145-BDC82FC61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2000"/>
            <a:ext cx="11124000" cy="4802400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CA" sz="2400" b="0" dirty="0">
              <a:solidFill>
                <a:srgbClr val="7CA66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# Syntax = lm(y ~ x, data)</a:t>
            </a:r>
            <a:endParaRPr lang="en-CA" sz="2400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l</a:t>
            </a:r>
            <a:r>
              <a:rPr lang="en-CA" sz="2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in_reg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CA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 </a:t>
            </a:r>
            <a:r>
              <a:rPr lang="en-CA" sz="24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lm</a:t>
            </a:r>
            <a:r>
              <a:rPr lang="en-CA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price 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~ 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sq_ft</a:t>
            </a:r>
            <a:r>
              <a:rPr lang="en-CA" sz="2400" dirty="0">
                <a:latin typeface="Menlo" panose="020B0609030804020204" pitchFamily="49" charset="0"/>
              </a:rPr>
              <a:t>, 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data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endParaRPr lang="en-CA" sz="2400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F</a:t>
            </a:r>
            <a:r>
              <a:rPr lang="en-CA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itted model components (e.g. coefficients, residuals</a:t>
            </a: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) </a:t>
            </a:r>
            <a:r>
              <a:rPr lang="en-CA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are stored in lin_reg</a:t>
            </a:r>
          </a:p>
          <a:p>
            <a:pPr marL="0" indent="0">
              <a:buNone/>
            </a:pP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l</a:t>
            </a:r>
            <a:r>
              <a:rPr lang="en-CA" sz="2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in_reg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$</a:t>
            </a:r>
            <a:r>
              <a:rPr lang="en-CA" sz="2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coefficients</a:t>
            </a:r>
            <a:endParaRPr lang="en-CA" sz="2400" dirty="0">
              <a:solidFill>
                <a:srgbClr val="FFFF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b="0" dirty="0">
                <a:effectLst/>
                <a:latin typeface="Menlo" panose="020B0609030804020204" pitchFamily="49" charset="0"/>
              </a:rPr>
              <a:t>(Intercept)      sq_ft </a:t>
            </a:r>
          </a:p>
          <a:p>
            <a:pPr marL="0" indent="0">
              <a:buNone/>
            </a:pPr>
            <a:r>
              <a:rPr lang="en-CA" sz="2400" b="0" dirty="0">
                <a:effectLst/>
                <a:latin typeface="Menlo" panose="020B0609030804020204" pitchFamily="49" charset="0"/>
              </a:rPr>
              <a:t> 16195.5456    134.6408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6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68C8BF-B40A-340A-5516-D3E7B377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55ED0-6C75-3CB0-6EEB-C495114C2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Plot the line of best fit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43DEAA-11F7-B58C-CABF-FE6D77DF5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0687"/>
            <a:ext cx="11124000" cy="4802400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 err="1">
                <a:solidFill>
                  <a:srgbClr val="4EC9B0"/>
                </a:solidFill>
                <a:latin typeface="Menlo" panose="020B0609030804020204" pitchFamily="49" charset="0"/>
              </a:rPr>
              <a:t>g</a:t>
            </a:r>
            <a:r>
              <a:rPr lang="en-CA" sz="24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gplot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data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, </a:t>
            </a:r>
            <a:r>
              <a:rPr lang="en-CA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aes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(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x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sq_ft</a:t>
            </a:r>
            <a:r>
              <a:rPr lang="en-CA" sz="2400" dirty="0">
                <a:latin typeface="Menlo" panose="020B0609030804020204" pitchFamily="49" charset="0"/>
              </a:rPr>
              <a:t>, 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y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price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)) +</a:t>
            </a:r>
          </a:p>
          <a:p>
            <a:pPr marL="457200" lvl="1" indent="0">
              <a:buNone/>
            </a:pPr>
            <a:r>
              <a:rPr lang="en-CA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geom_point</a:t>
            </a:r>
            <a:r>
              <a:rPr lang="en-CA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CA" dirty="0">
                <a:solidFill>
                  <a:srgbClr val="FFFFFF"/>
                </a:solidFill>
                <a:latin typeface="Menlo" panose="020B0609030804020204" pitchFamily="49" charset="0"/>
              </a:rPr>
              <a:t> + </a:t>
            </a:r>
            <a:r>
              <a:rPr lang="en-CA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Add scatter plot</a:t>
            </a:r>
          </a:p>
          <a:p>
            <a:pPr marL="457200" lvl="1" indent="0">
              <a:buNone/>
            </a:pPr>
            <a:r>
              <a:rPr lang="en-CA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geom_smooth</a:t>
            </a:r>
            <a:r>
              <a:rPr lang="en-CA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(method = </a:t>
            </a:r>
            <a:r>
              <a:rPr lang="en-CA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‘</a:t>
            </a:r>
            <a:r>
              <a:rPr lang="en-CA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lm</a:t>
            </a:r>
            <a:r>
              <a:rPr lang="en-CA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’</a:t>
            </a:r>
            <a:r>
              <a:rPr lang="en-CA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CA" dirty="0">
                <a:solidFill>
                  <a:srgbClr val="FFFFFF"/>
                </a:solidFill>
                <a:latin typeface="Menlo" panose="020B0609030804020204" pitchFamily="49" charset="0"/>
              </a:rPr>
              <a:t> </a:t>
            </a:r>
            <a:r>
              <a:rPr lang="en-CA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CA" dirty="0">
                <a:solidFill>
                  <a:srgbClr val="7CA668"/>
                </a:solidFill>
                <a:latin typeface="Menlo" panose="020B0609030804020204" pitchFamily="49" charset="0"/>
              </a:rPr>
              <a:t>A</a:t>
            </a:r>
            <a:r>
              <a:rPr lang="en-CA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dd the line of best fit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B8A5F9-9DA4-EB31-CAEB-D83B5BF42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912" y="2958055"/>
            <a:ext cx="3766293" cy="34184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1472AB-F010-F70C-CCC7-174E107B9B09}"/>
              </a:ext>
            </a:extLst>
          </p:cNvPr>
          <p:cNvSpPr txBox="1"/>
          <p:nvPr/>
        </p:nvSpPr>
        <p:spPr>
          <a:xfrm>
            <a:off x="5621063" y="6077589"/>
            <a:ext cx="500932" cy="2539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sq_ft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841D8C-1CE4-2D8D-1DFD-74ACEEB10428}"/>
              </a:ext>
            </a:extLst>
          </p:cNvPr>
          <p:cNvSpPr txBox="1"/>
          <p:nvPr/>
        </p:nvSpPr>
        <p:spPr>
          <a:xfrm rot="16200000">
            <a:off x="3543181" y="4500304"/>
            <a:ext cx="490127" cy="1384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sz="3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93B408-7410-29BF-A89B-00668674BB30}"/>
              </a:ext>
            </a:extLst>
          </p:cNvPr>
          <p:cNvSpPr txBox="1"/>
          <p:nvPr/>
        </p:nvSpPr>
        <p:spPr>
          <a:xfrm rot="16200000">
            <a:off x="2233687" y="4550791"/>
            <a:ext cx="31195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price</a:t>
            </a:r>
          </a:p>
        </p:txBody>
      </p:sp>
    </p:spTree>
    <p:extLst>
      <p:ext uri="{BB962C8B-B14F-4D97-AF65-F5344CB8AC3E}">
        <p14:creationId xmlns:p14="http://schemas.microsoft.com/office/powerpoint/2010/main" val="186885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EE58A-D955-447E-B771-06210C4A4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2726D4-10B2-D3C4-66F8-8E4DD9AAE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0687"/>
            <a:ext cx="11124000" cy="4802400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>
                <a:solidFill>
                  <a:srgbClr val="7CA667"/>
                </a:solidFill>
                <a:latin typeface="Menlo" panose="020B0609030804020204" pitchFamily="49" charset="0"/>
              </a:rPr>
              <a:t># Plot diagnostic checks for linear regression; we will focus on 1 and 2</a:t>
            </a:r>
          </a:p>
          <a:p>
            <a:pPr marL="0" indent="0">
              <a:buNone/>
            </a:pPr>
            <a:r>
              <a:rPr lang="en-CA" sz="2400" dirty="0">
                <a:solidFill>
                  <a:srgbClr val="4EC9B0"/>
                </a:solidFill>
                <a:latin typeface="Menlo" panose="020B0609030804020204" pitchFamily="49" charset="0"/>
              </a:rPr>
              <a:t>plot</a:t>
            </a:r>
            <a:r>
              <a:rPr lang="en-CA" sz="2400" dirty="0">
                <a:latin typeface="Menlo" panose="020B0609030804020204" pitchFamily="49" charset="0"/>
              </a:rPr>
              <a:t>(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lin_reg</a:t>
            </a:r>
            <a:r>
              <a:rPr lang="en-CA" sz="2400" dirty="0">
                <a:latin typeface="Menlo" panose="020B0609030804020204" pitchFamily="49" charset="0"/>
              </a:rPr>
              <a:t>, 1) </a:t>
            </a:r>
            <a:r>
              <a:rPr lang="en-CA" sz="2400" dirty="0">
                <a:solidFill>
                  <a:srgbClr val="7CA667"/>
                </a:solidFill>
                <a:latin typeface="Menlo" panose="020B0609030804020204" pitchFamily="49" charset="0"/>
              </a:rPr>
              <a:t># Constant variance of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07DD2A-EB36-B96F-5CC4-E4B58FBCF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706" y="2988781"/>
            <a:ext cx="5462588" cy="337119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67FAE8F-3E98-C75C-2C25-B635A7B57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800" y="365125"/>
            <a:ext cx="108210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Plot </a:t>
            </a:r>
            <a:r>
              <a:rPr lang="en-CA" dirty="0">
                <a:solidFill>
                  <a:schemeClr val="bg1"/>
                </a:solidFill>
                <a:latin typeface="Courier" pitchFamily="2" charset="0"/>
              </a:rPr>
              <a:t>Residuals: Variance Check</a:t>
            </a:r>
            <a:endParaRPr lang="en-US" dirty="0">
              <a:solidFill>
                <a:schemeClr val="bg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394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A3C07-A3BA-1DAE-FB3C-46F78E24B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F1F03-8BDF-8EB2-27FD-AFCAC5B61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800" y="365125"/>
            <a:ext cx="108210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Plot </a:t>
            </a:r>
            <a:r>
              <a:rPr lang="en-CA" dirty="0">
                <a:solidFill>
                  <a:schemeClr val="bg1"/>
                </a:solidFill>
                <a:latin typeface="Courier" pitchFamily="2" charset="0"/>
              </a:rPr>
              <a:t>Residuals: Normality Check</a:t>
            </a:r>
            <a:endParaRPr lang="en-US" dirty="0">
              <a:solidFill>
                <a:schemeClr val="bg1"/>
              </a:solidFill>
              <a:latin typeface="Courier" pitchFamily="2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C5E99A-494D-6030-A71A-B515D8520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0687"/>
            <a:ext cx="11124000" cy="4802400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>
                <a:solidFill>
                  <a:srgbClr val="7CA667"/>
                </a:solidFill>
                <a:latin typeface="Menlo" panose="020B0609030804020204" pitchFamily="49" charset="0"/>
              </a:rPr>
              <a:t># Plot diagnostic checks for linear regression; we will focus on 1 and 2</a:t>
            </a:r>
          </a:p>
          <a:p>
            <a:pPr marL="0" indent="0">
              <a:buNone/>
            </a:pPr>
            <a:r>
              <a:rPr lang="en-CA" sz="2400" dirty="0">
                <a:solidFill>
                  <a:srgbClr val="4EC9B0"/>
                </a:solidFill>
                <a:latin typeface="Menlo" panose="020B0609030804020204" pitchFamily="49" charset="0"/>
              </a:rPr>
              <a:t>plot</a:t>
            </a:r>
            <a:r>
              <a:rPr lang="en-CA" sz="2400" dirty="0">
                <a:latin typeface="Menlo" panose="020B0609030804020204" pitchFamily="49" charset="0"/>
              </a:rPr>
              <a:t>(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lin_reg</a:t>
            </a:r>
            <a:r>
              <a:rPr lang="en-CA" sz="2400" dirty="0">
                <a:latin typeface="Menlo" panose="020B0609030804020204" pitchFamily="49" charset="0"/>
              </a:rPr>
              <a:t>, 2)</a:t>
            </a:r>
            <a:r>
              <a:rPr lang="en-CA" sz="2400" dirty="0">
                <a:solidFill>
                  <a:srgbClr val="7CA667"/>
                </a:solidFill>
                <a:latin typeface="Menlo" panose="020B0609030804020204" pitchFamily="49" charset="0"/>
              </a:rPr>
              <a:t> # Normality of errors</a:t>
            </a:r>
            <a:endParaRPr lang="en-CA" sz="2400" dirty="0">
              <a:latin typeface="Menlo" panose="020B060903080402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B83709-B3C9-62D5-A61C-0A9E79178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912" y="3011234"/>
            <a:ext cx="5419725" cy="334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69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895F1C-5A90-E4B6-FB28-8BCE639A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35DA8-9BA9-4B9F-18B3-C1ECD04C3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800" y="365125"/>
            <a:ext cx="111240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Evaluate model fit: RMSE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C84621-7254-221D-A6D0-CD1D29AB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0688"/>
            <a:ext cx="11124000" cy="4802400"/>
          </a:xfrm>
          <a:solidFill>
            <a:schemeClr val="tx2">
              <a:lumMod val="25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CA" b="0" dirty="0">
              <a:solidFill>
                <a:srgbClr val="7CA66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3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Step 1. </a:t>
            </a:r>
            <a:r>
              <a:rPr lang="en-CA" sz="3400" dirty="0">
                <a:solidFill>
                  <a:srgbClr val="7CA668"/>
                </a:solidFill>
                <a:latin typeface="Menlo" panose="020B0609030804020204" pitchFamily="49" charset="0"/>
              </a:rPr>
              <a:t>Get the residuals (errors)</a:t>
            </a:r>
          </a:p>
          <a:p>
            <a:pPr marL="0" indent="0">
              <a:buNone/>
            </a:pPr>
            <a:r>
              <a:rPr lang="en-CA" sz="3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residuals</a:t>
            </a:r>
            <a:r>
              <a:rPr lang="en-CA" sz="3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CA" sz="3400" b="0" dirty="0">
                <a:effectLst/>
                <a:latin typeface="Menlo" panose="020B0609030804020204" pitchFamily="49" charset="0"/>
              </a:rPr>
              <a:t>&lt;-</a:t>
            </a:r>
            <a:r>
              <a:rPr lang="en-CA" sz="3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CA" sz="3400" dirty="0" err="1">
                <a:solidFill>
                  <a:srgbClr val="9CDCFE"/>
                </a:solidFill>
                <a:latin typeface="Menlo" panose="020B0609030804020204" pitchFamily="49" charset="0"/>
              </a:rPr>
              <a:t>l</a:t>
            </a:r>
            <a:r>
              <a:rPr lang="en-CA" sz="34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in_reg</a:t>
            </a:r>
            <a:r>
              <a:rPr lang="en-CA" sz="3400" b="0" dirty="0" err="1">
                <a:effectLst/>
                <a:latin typeface="Menlo" panose="020B0609030804020204" pitchFamily="49" charset="0"/>
              </a:rPr>
              <a:t>$</a:t>
            </a:r>
            <a:r>
              <a:rPr lang="en-CA" sz="34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residuals</a:t>
            </a:r>
            <a:endParaRPr lang="en-CA" sz="3400" b="0" dirty="0">
              <a:solidFill>
                <a:srgbClr val="7CA66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3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Step 2. Square the residuals </a:t>
            </a:r>
          </a:p>
          <a:p>
            <a:pPr marL="0" indent="0">
              <a:buNone/>
            </a:pPr>
            <a:r>
              <a:rPr lang="en-CA" sz="3400" dirty="0" err="1">
                <a:solidFill>
                  <a:srgbClr val="9CDCFE"/>
                </a:solidFill>
                <a:latin typeface="Menlo" panose="020B0609030804020204" pitchFamily="49" charset="0"/>
              </a:rPr>
              <a:t>r</a:t>
            </a:r>
            <a:r>
              <a:rPr lang="en-CA" sz="34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esiduals_squared</a:t>
            </a:r>
            <a:r>
              <a:rPr lang="en-CA" sz="3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CA" sz="3400" b="0" dirty="0">
                <a:effectLst/>
                <a:latin typeface="Menlo" panose="020B0609030804020204" pitchFamily="49" charset="0"/>
              </a:rPr>
              <a:t>&lt;-</a:t>
            </a:r>
            <a:r>
              <a:rPr lang="en-CA" sz="3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CA" sz="3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residuals</a:t>
            </a:r>
            <a:r>
              <a:rPr lang="en-CA" sz="3400" b="0" dirty="0">
                <a:effectLst/>
                <a:latin typeface="Menlo" panose="020B0609030804020204" pitchFamily="49" charset="0"/>
              </a:rPr>
              <a:t>**2  </a:t>
            </a:r>
          </a:p>
          <a:p>
            <a:pPr marL="0" indent="0">
              <a:buNone/>
            </a:pPr>
            <a:r>
              <a:rPr lang="en-CA" sz="3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Step 3. </a:t>
            </a:r>
            <a:r>
              <a:rPr lang="en-CA" sz="3400" dirty="0">
                <a:solidFill>
                  <a:srgbClr val="7CA668"/>
                </a:solidFill>
                <a:latin typeface="Menlo" panose="020B0609030804020204" pitchFamily="49" charset="0"/>
              </a:rPr>
              <a:t>Find the mean of the squared residuals (MSE)</a:t>
            </a:r>
          </a:p>
          <a:p>
            <a:pPr marL="0" indent="0">
              <a:buNone/>
            </a:pPr>
            <a:r>
              <a:rPr lang="en-CA" sz="3400" dirty="0">
                <a:solidFill>
                  <a:srgbClr val="9CDCFE"/>
                </a:solidFill>
                <a:latin typeface="Menlo" panose="020B0609030804020204" pitchFamily="49" charset="0"/>
              </a:rPr>
              <a:t>MSE </a:t>
            </a: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&lt;-</a:t>
            </a: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srgbClr val="7CA66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lang="en-CA" sz="34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mean</a:t>
            </a:r>
            <a:r>
              <a:rPr lang="en-CA" sz="3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3400" dirty="0" err="1">
                <a:solidFill>
                  <a:srgbClr val="9CDCFE"/>
                </a:solidFill>
                <a:latin typeface="Menlo" panose="020B0609030804020204" pitchFamily="49" charset="0"/>
              </a:rPr>
              <a:t>r</a:t>
            </a:r>
            <a:r>
              <a:rPr lang="en-CA" sz="34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esiduals_squared</a:t>
            </a:r>
            <a:r>
              <a:rPr lang="en-CA" sz="3400" b="0" dirty="0">
                <a:effectLst/>
                <a:latin typeface="Menlo" panose="020B0609030804020204" pitchFamily="49" charset="0"/>
              </a:rPr>
              <a:t>)</a:t>
            </a:r>
          </a:p>
          <a:p>
            <a:pPr marL="0" lvl="0" indent="0">
              <a:buNone/>
              <a:defRPr/>
            </a:pP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srgbClr val="7CA66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# Step 4. </a:t>
            </a:r>
            <a:r>
              <a:rPr lang="en-CA" sz="3400" dirty="0">
                <a:solidFill>
                  <a:srgbClr val="7CA668"/>
                </a:solidFill>
                <a:latin typeface="Menlo" panose="020B0609030804020204" pitchFamily="49" charset="0"/>
              </a:rPr>
              <a:t>Take the square root to get RMSE</a:t>
            </a:r>
            <a:endParaRPr kumimoji="0" lang="en-CA" sz="3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RMSE </a:t>
            </a: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&lt;-</a:t>
            </a: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srgbClr val="7CA66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lang="en-CA" sz="3400" dirty="0">
                <a:solidFill>
                  <a:srgbClr val="4EC9B0"/>
                </a:solidFill>
                <a:latin typeface="Menlo" panose="020B0609030804020204" pitchFamily="49" charset="0"/>
              </a:rPr>
              <a:t>sqrt</a:t>
            </a: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(</a:t>
            </a:r>
            <a:r>
              <a:rPr lang="en-CA" sz="3400" dirty="0">
                <a:solidFill>
                  <a:srgbClr val="9CDCFE"/>
                </a:solidFill>
                <a:latin typeface="Menlo" panose="020B0609030804020204" pitchFamily="49" charset="0"/>
              </a:rPr>
              <a:t>MSE</a:t>
            </a: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RMSE</a:t>
            </a:r>
            <a:endParaRPr lang="en-CA" sz="3400" dirty="0">
              <a:solidFill>
                <a:prstClr val="white"/>
              </a:solidFill>
              <a:latin typeface="Menlo" panose="020B060903080402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81885.64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7CA667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</a:t>
            </a:r>
            <a:r>
              <a:rPr lang="en-CA" sz="3400" dirty="0">
                <a:solidFill>
                  <a:srgbClr val="7CA667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 average, the predicted sale prices are about $82,000 off from the true sale prices.</a:t>
            </a:r>
            <a:endParaRPr kumimoji="0" lang="en-US" sz="3400" i="0" u="none" strike="noStrike" kern="1200" cap="none" spc="0" normalizeH="0" baseline="0" noProof="0" dirty="0">
              <a:ln>
                <a:noFill/>
              </a:ln>
              <a:solidFill>
                <a:srgbClr val="7CA667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60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1631E4-4FD4-1F02-7330-CB19C45B8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93EBA-1371-5E82-B1A1-D631DC9CC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99" y="365125"/>
            <a:ext cx="11123999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Evaluate model fit: R</a:t>
            </a:r>
            <a:r>
              <a:rPr lang="en-US" baseline="30000" dirty="0">
                <a:solidFill>
                  <a:schemeClr val="bg1"/>
                </a:solidFill>
                <a:latin typeface="Courier" pitchFamily="2" charset="0"/>
              </a:rPr>
              <a:t>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9DAE60-8749-E3DD-63B5-EF89CD801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0687"/>
            <a:ext cx="11124000" cy="4802400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CA" sz="2400" b="0" dirty="0">
              <a:solidFill>
                <a:srgbClr val="7CA66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b="0" dirty="0">
                <a:solidFill>
                  <a:srgbClr val="7CA667"/>
                </a:solidFill>
                <a:effectLst/>
                <a:latin typeface="Menlo" panose="020B0609030804020204" pitchFamily="49" charset="0"/>
              </a:rPr>
              <a:t># Metrics such as R</a:t>
            </a:r>
            <a:r>
              <a:rPr lang="en-CA" sz="2400" b="0" baseline="30000" dirty="0">
                <a:solidFill>
                  <a:srgbClr val="7CA66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CA" sz="2400" b="0" dirty="0">
                <a:solidFill>
                  <a:srgbClr val="7CA667"/>
                </a:solidFill>
                <a:effectLst/>
                <a:latin typeface="Menlo" panose="020B0609030804020204" pitchFamily="49" charset="0"/>
              </a:rPr>
              <a:t> are derived statistics that are calculated only when you call summary()</a:t>
            </a:r>
          </a:p>
          <a:p>
            <a:pPr marL="0" indent="0">
              <a:buNone/>
            </a:pPr>
            <a:r>
              <a:rPr lang="en-CA" sz="24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summary</a:t>
            </a:r>
            <a:r>
              <a:rPr lang="en-CA" sz="2400" dirty="0">
                <a:latin typeface="Menlo" panose="020B0609030804020204" pitchFamily="49" charset="0"/>
              </a:rPr>
              <a:t>(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l</a:t>
            </a:r>
            <a:r>
              <a:rPr lang="en-CA" sz="2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in_reg</a:t>
            </a:r>
            <a:r>
              <a:rPr lang="en-CA" sz="2400" b="0" dirty="0">
                <a:effectLst/>
                <a:latin typeface="Menlo" panose="020B0609030804020204" pitchFamily="49" charset="0"/>
              </a:rPr>
              <a:t>)$</a:t>
            </a:r>
            <a:r>
              <a:rPr lang="en-CA" sz="2400" b="0" dirty="0" err="1">
                <a:solidFill>
                  <a:srgbClr val="9DDCFF"/>
                </a:solidFill>
                <a:effectLst/>
                <a:latin typeface="Menlo" panose="020B0609030804020204" pitchFamily="49" charset="0"/>
              </a:rPr>
              <a:t>r.squared</a:t>
            </a:r>
            <a:endParaRPr lang="en-CA" sz="2400" dirty="0">
              <a:solidFill>
                <a:srgbClr val="9DDC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0.5309191</a:t>
            </a:r>
          </a:p>
          <a:p>
            <a:pPr marL="0" indent="0">
              <a:buNone/>
            </a:pPr>
            <a:endParaRPr lang="en-US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cor</a:t>
            </a:r>
            <a:r>
              <a:rPr lang="en-CA" sz="2400" dirty="0">
                <a:latin typeface="Menlo" panose="020B0609030804020204" pitchFamily="49" charset="0"/>
              </a:rPr>
              <a:t>(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dirty="0" err="1">
                <a:latin typeface="Menlo" panose="020B0609030804020204" pitchFamily="49" charset="0"/>
              </a:rPr>
              <a:t>$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sq_ft</a:t>
            </a:r>
            <a:r>
              <a:rPr lang="en-CA" sz="2400" dirty="0">
                <a:latin typeface="Menlo" panose="020B0609030804020204" pitchFamily="49" charset="0"/>
              </a:rPr>
              <a:t>,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 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dirty="0" err="1">
                <a:latin typeface="Menlo" panose="020B0609030804020204" pitchFamily="49" charset="0"/>
              </a:rPr>
              <a:t>$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price</a:t>
            </a:r>
            <a:r>
              <a:rPr lang="en-CA" sz="2400" dirty="0">
                <a:latin typeface="Menlo" panose="020B0609030804020204" pitchFamily="49" charset="0"/>
              </a:rPr>
              <a:t>)</a:t>
            </a:r>
            <a:r>
              <a:rPr lang="en-CA" sz="2400" b="0" dirty="0">
                <a:effectLst/>
                <a:latin typeface="Menlo" panose="020B0609030804020204" pitchFamily="49" charset="0"/>
              </a:rPr>
              <a:t>**2</a:t>
            </a:r>
          </a:p>
          <a:p>
            <a:pPr marL="0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0.5309191</a:t>
            </a:r>
          </a:p>
          <a:p>
            <a:pPr marL="0" indent="0">
              <a:buNone/>
            </a:pPr>
            <a:endParaRPr lang="en-US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7CA667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</a:t>
            </a:r>
            <a:r>
              <a:rPr lang="en-CA" sz="2400" b="0" dirty="0">
                <a:solidFill>
                  <a:srgbClr val="7CA667"/>
                </a:solidFill>
                <a:effectLst/>
                <a:latin typeface="Menlo" panose="020B0609030804020204" pitchFamily="49" charset="0"/>
              </a:rPr>
              <a:t>About 53% </a:t>
            </a:r>
            <a:r>
              <a:rPr lang="en-US" sz="2400" dirty="0">
                <a:solidFill>
                  <a:srgbClr val="7CA667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of the variation in price can be explained by house size alone!</a:t>
            </a:r>
            <a:endParaRPr lang="en-CA" sz="2400" b="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7CA667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605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22723-C043-71F2-C8EA-7C355CDA8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AutoShape 74">
            <a:extLst>
              <a:ext uri="{FF2B5EF4-FFF2-40B4-BE49-F238E27FC236}">
                <a16:creationId xmlns:a16="http://schemas.microsoft.com/office/drawing/2014/main" id="{8F1D03FD-72DF-2434-DF61-DB54AB3C0E65}"/>
              </a:ext>
            </a:extLst>
          </p:cNvPr>
          <p:cNvSpPr/>
          <p:nvPr/>
        </p:nvSpPr>
        <p:spPr>
          <a:xfrm>
            <a:off x="1875449" y="4941519"/>
            <a:ext cx="3983333" cy="12385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1" name="AutoShape 73">
            <a:extLst>
              <a:ext uri="{FF2B5EF4-FFF2-40B4-BE49-F238E27FC236}">
                <a16:creationId xmlns:a16="http://schemas.microsoft.com/office/drawing/2014/main" id="{71B0ADB7-4524-D494-7007-4FBD0C83C050}"/>
              </a:ext>
            </a:extLst>
          </p:cNvPr>
          <p:cNvSpPr/>
          <p:nvPr/>
        </p:nvSpPr>
        <p:spPr>
          <a:xfrm>
            <a:off x="3603435" y="4049094"/>
            <a:ext cx="1994921" cy="17820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3" name="AutoShape 2">
            <a:extLst>
              <a:ext uri="{FF2B5EF4-FFF2-40B4-BE49-F238E27FC236}">
                <a16:creationId xmlns:a16="http://schemas.microsoft.com/office/drawing/2014/main" id="{1B3D6964-4DCC-6A47-5ECF-F0715693648E}"/>
              </a:ext>
            </a:extLst>
          </p:cNvPr>
          <p:cNvSpPr/>
          <p:nvPr/>
        </p:nvSpPr>
        <p:spPr>
          <a:xfrm flipH="1">
            <a:off x="6469287" y="2533652"/>
            <a:ext cx="4733774" cy="7545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4" name="Group 3">
            <a:extLst>
              <a:ext uri="{FF2B5EF4-FFF2-40B4-BE49-F238E27FC236}">
                <a16:creationId xmlns:a16="http://schemas.microsoft.com/office/drawing/2014/main" id="{3AEFFAB1-9BB6-5E38-5AD2-FB564B85325C}"/>
              </a:ext>
            </a:extLst>
          </p:cNvPr>
          <p:cNvGrpSpPr/>
          <p:nvPr/>
        </p:nvGrpSpPr>
        <p:grpSpPr>
          <a:xfrm>
            <a:off x="7507328" y="2320634"/>
            <a:ext cx="1967465" cy="1728460"/>
            <a:chOff x="0" y="0"/>
            <a:chExt cx="506825" cy="363972"/>
          </a:xfrm>
        </p:grpSpPr>
        <p:sp>
          <p:nvSpPr>
            <p:cNvPr id="195" name="Freeform 4">
              <a:extLst>
                <a:ext uri="{FF2B5EF4-FFF2-40B4-BE49-F238E27FC236}">
                  <a16:creationId xmlns:a16="http://schemas.microsoft.com/office/drawing/2014/main" id="{B461E936-4EC8-1433-8AEF-9ED09703191E}"/>
                </a:ext>
              </a:extLst>
            </p:cNvPr>
            <p:cNvSpPr/>
            <p:nvPr/>
          </p:nvSpPr>
          <p:spPr>
            <a:xfrm>
              <a:off x="0" y="0"/>
              <a:ext cx="506825" cy="363972"/>
            </a:xfrm>
            <a:custGeom>
              <a:avLst/>
              <a:gdLst/>
              <a:ahLst/>
              <a:cxnLst/>
              <a:rect l="l" t="t" r="r" b="b"/>
              <a:pathLst>
                <a:path w="506825" h="363972">
                  <a:moveTo>
                    <a:pt x="253413" y="0"/>
                  </a:moveTo>
                  <a:cubicBezTo>
                    <a:pt x="113457" y="0"/>
                    <a:pt x="0" y="81478"/>
                    <a:pt x="0" y="181986"/>
                  </a:cubicBezTo>
                  <a:cubicBezTo>
                    <a:pt x="0" y="282494"/>
                    <a:pt x="113457" y="363972"/>
                    <a:pt x="253413" y="363972"/>
                  </a:cubicBezTo>
                  <a:cubicBezTo>
                    <a:pt x="393369" y="363972"/>
                    <a:pt x="506825" y="282494"/>
                    <a:pt x="506825" y="181986"/>
                  </a:cubicBezTo>
                  <a:cubicBezTo>
                    <a:pt x="506825" y="81478"/>
                    <a:pt x="393369" y="0"/>
                    <a:pt x="253413" y="0"/>
                  </a:cubicBezTo>
                  <a:close/>
                </a:path>
              </a:pathLst>
            </a:custGeom>
            <a:solidFill>
              <a:srgbClr val="E7E7E7"/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6" name="TextBox 5">
              <a:extLst>
                <a:ext uri="{FF2B5EF4-FFF2-40B4-BE49-F238E27FC236}">
                  <a16:creationId xmlns:a16="http://schemas.microsoft.com/office/drawing/2014/main" id="{68250585-0DB8-BAEB-C59C-B1F8670784DA}"/>
                </a:ext>
              </a:extLst>
            </p:cNvPr>
            <p:cNvSpPr txBox="1"/>
            <p:nvPr/>
          </p:nvSpPr>
          <p:spPr>
            <a:xfrm>
              <a:off x="47515" y="15072"/>
              <a:ext cx="411795" cy="314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va Sans"/>
                  <a:ea typeface="Canva Sans"/>
                  <a:cs typeface="Canva Sans"/>
                  <a:sym typeface="Canva Sans"/>
                </a:rPr>
                <a:t>use information about</a:t>
              </a:r>
            </a:p>
          </p:txBody>
        </p:sp>
      </p:grpSp>
      <p:sp>
        <p:nvSpPr>
          <p:cNvPr id="200" name="AutoShape 69">
            <a:extLst>
              <a:ext uri="{FF2B5EF4-FFF2-40B4-BE49-F238E27FC236}">
                <a16:creationId xmlns:a16="http://schemas.microsoft.com/office/drawing/2014/main" id="{B5C5A4AC-9F2A-CEF3-CE2C-ED0FBA9537DF}"/>
              </a:ext>
            </a:extLst>
          </p:cNvPr>
          <p:cNvSpPr/>
          <p:nvPr/>
        </p:nvSpPr>
        <p:spPr>
          <a:xfrm flipH="1" flipV="1">
            <a:off x="9151344" y="641193"/>
            <a:ext cx="1590095" cy="16101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4" name="AutoShape 82">
            <a:extLst>
              <a:ext uri="{FF2B5EF4-FFF2-40B4-BE49-F238E27FC236}">
                <a16:creationId xmlns:a16="http://schemas.microsoft.com/office/drawing/2014/main" id="{979ED3C7-DF99-B02F-8231-BEF95F48690D}"/>
              </a:ext>
            </a:extLst>
          </p:cNvPr>
          <p:cNvSpPr/>
          <p:nvPr/>
        </p:nvSpPr>
        <p:spPr>
          <a:xfrm flipH="1">
            <a:off x="7021215" y="680428"/>
            <a:ext cx="2627549" cy="7592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01" name="Group 70">
            <a:extLst>
              <a:ext uri="{FF2B5EF4-FFF2-40B4-BE49-F238E27FC236}">
                <a16:creationId xmlns:a16="http://schemas.microsoft.com/office/drawing/2014/main" id="{C2F6E20C-9765-0297-BCAF-449978DFB80F}"/>
              </a:ext>
            </a:extLst>
          </p:cNvPr>
          <p:cNvGrpSpPr/>
          <p:nvPr/>
        </p:nvGrpSpPr>
        <p:grpSpPr>
          <a:xfrm>
            <a:off x="8706301" y="224708"/>
            <a:ext cx="1668465" cy="1521420"/>
            <a:chOff x="0" y="0"/>
            <a:chExt cx="440339" cy="265456"/>
          </a:xfrm>
        </p:grpSpPr>
        <p:sp>
          <p:nvSpPr>
            <p:cNvPr id="202" name="Freeform 71">
              <a:extLst>
                <a:ext uri="{FF2B5EF4-FFF2-40B4-BE49-F238E27FC236}">
                  <a16:creationId xmlns:a16="http://schemas.microsoft.com/office/drawing/2014/main" id="{8DE14146-996F-CE1F-F997-1168ADE3EB0F}"/>
                </a:ext>
              </a:extLst>
            </p:cNvPr>
            <p:cNvSpPr/>
            <p:nvPr/>
          </p:nvSpPr>
          <p:spPr>
            <a:xfrm>
              <a:off x="0" y="0"/>
              <a:ext cx="440339" cy="265456"/>
            </a:xfrm>
            <a:custGeom>
              <a:avLst/>
              <a:gdLst/>
              <a:ahLst/>
              <a:cxnLst/>
              <a:rect l="l" t="t" r="r" b="b"/>
              <a:pathLst>
                <a:path w="440339" h="265456">
                  <a:moveTo>
                    <a:pt x="220169" y="0"/>
                  </a:moveTo>
                  <a:cubicBezTo>
                    <a:pt x="98573" y="0"/>
                    <a:pt x="0" y="59424"/>
                    <a:pt x="0" y="132728"/>
                  </a:cubicBezTo>
                  <a:cubicBezTo>
                    <a:pt x="0" y="206031"/>
                    <a:pt x="98573" y="265456"/>
                    <a:pt x="220169" y="265456"/>
                  </a:cubicBezTo>
                  <a:cubicBezTo>
                    <a:pt x="341766" y="265456"/>
                    <a:pt x="440339" y="206031"/>
                    <a:pt x="440339" y="132728"/>
                  </a:cubicBezTo>
                  <a:cubicBezTo>
                    <a:pt x="440339" y="59424"/>
                    <a:pt x="341766" y="0"/>
                    <a:pt x="220169" y="0"/>
                  </a:cubicBezTo>
                  <a:close/>
                </a:path>
              </a:pathLst>
            </a:custGeom>
            <a:solidFill>
              <a:srgbClr val="E7E7E7"/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3" name="TextBox 72">
              <a:extLst>
                <a:ext uri="{FF2B5EF4-FFF2-40B4-BE49-F238E27FC236}">
                  <a16:creationId xmlns:a16="http://schemas.microsoft.com/office/drawing/2014/main" id="{75E35AF7-B82F-AAD7-CC4E-BD876AF88DB8}"/>
                </a:ext>
              </a:extLst>
            </p:cNvPr>
            <p:cNvSpPr txBox="1"/>
            <p:nvPr/>
          </p:nvSpPr>
          <p:spPr>
            <a:xfrm>
              <a:off x="21461" y="20216"/>
              <a:ext cx="397417" cy="234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va Sans"/>
                  <a:ea typeface="Canva Sans"/>
                  <a:cs typeface="Canva Sans"/>
                  <a:sym typeface="Canva Sans"/>
                </a:rPr>
                <a:t>o make predictions for</a:t>
              </a:r>
            </a:p>
          </p:txBody>
        </p:sp>
      </p:grpSp>
      <p:sp>
        <p:nvSpPr>
          <p:cNvPr id="212" name="AutoShape 17">
            <a:extLst>
              <a:ext uri="{FF2B5EF4-FFF2-40B4-BE49-F238E27FC236}">
                <a16:creationId xmlns:a16="http://schemas.microsoft.com/office/drawing/2014/main" id="{EB150E9E-F135-C680-F875-A3F0592F76D8}"/>
              </a:ext>
            </a:extLst>
          </p:cNvPr>
          <p:cNvSpPr/>
          <p:nvPr/>
        </p:nvSpPr>
        <p:spPr>
          <a:xfrm flipH="1" flipV="1">
            <a:off x="5868142" y="3380032"/>
            <a:ext cx="95892" cy="22350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3" name="AutoShape 18">
            <a:extLst>
              <a:ext uri="{FF2B5EF4-FFF2-40B4-BE49-F238E27FC236}">
                <a16:creationId xmlns:a16="http://schemas.microsoft.com/office/drawing/2014/main" id="{87A2BB55-0947-EBBB-C65B-B4FDFD093CB5}"/>
              </a:ext>
            </a:extLst>
          </p:cNvPr>
          <p:cNvSpPr/>
          <p:nvPr/>
        </p:nvSpPr>
        <p:spPr>
          <a:xfrm flipH="1">
            <a:off x="3505039" y="2113073"/>
            <a:ext cx="345288" cy="12141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20" name="Group 25">
            <a:extLst>
              <a:ext uri="{FF2B5EF4-FFF2-40B4-BE49-F238E27FC236}">
                <a16:creationId xmlns:a16="http://schemas.microsoft.com/office/drawing/2014/main" id="{A2216EA8-B982-7D72-F9B3-648BB028EC35}"/>
              </a:ext>
            </a:extLst>
          </p:cNvPr>
          <p:cNvGrpSpPr/>
          <p:nvPr/>
        </p:nvGrpSpPr>
        <p:grpSpPr>
          <a:xfrm>
            <a:off x="5095709" y="4831987"/>
            <a:ext cx="2230633" cy="1946857"/>
            <a:chOff x="0" y="0"/>
            <a:chExt cx="618217" cy="219217"/>
          </a:xfrm>
        </p:grpSpPr>
        <p:sp>
          <p:nvSpPr>
            <p:cNvPr id="221" name="Freeform 26">
              <a:extLst>
                <a:ext uri="{FF2B5EF4-FFF2-40B4-BE49-F238E27FC236}">
                  <a16:creationId xmlns:a16="http://schemas.microsoft.com/office/drawing/2014/main" id="{16D67C64-29F9-EB84-AC63-E4D9591B3FAA}"/>
                </a:ext>
              </a:extLst>
            </p:cNvPr>
            <p:cNvSpPr/>
            <p:nvPr/>
          </p:nvSpPr>
          <p:spPr>
            <a:xfrm>
              <a:off x="0" y="0"/>
              <a:ext cx="618217" cy="219217"/>
            </a:xfrm>
            <a:custGeom>
              <a:avLst/>
              <a:gdLst/>
              <a:ahLst/>
              <a:cxnLst/>
              <a:rect l="l" t="t" r="r" b="b"/>
              <a:pathLst>
                <a:path w="618217" h="219217">
                  <a:moveTo>
                    <a:pt x="309109" y="0"/>
                  </a:moveTo>
                  <a:cubicBezTo>
                    <a:pt x="138393" y="0"/>
                    <a:pt x="0" y="49073"/>
                    <a:pt x="0" y="109609"/>
                  </a:cubicBezTo>
                  <a:cubicBezTo>
                    <a:pt x="0" y="170144"/>
                    <a:pt x="138393" y="219217"/>
                    <a:pt x="309109" y="219217"/>
                  </a:cubicBezTo>
                  <a:cubicBezTo>
                    <a:pt x="479824" y="219217"/>
                    <a:pt x="618217" y="170144"/>
                    <a:pt x="618217" y="109609"/>
                  </a:cubicBezTo>
                  <a:cubicBezTo>
                    <a:pt x="618217" y="49073"/>
                    <a:pt x="479824" y="0"/>
                    <a:pt x="309109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2" name="TextBox 27">
              <a:extLst>
                <a:ext uri="{FF2B5EF4-FFF2-40B4-BE49-F238E27FC236}">
                  <a16:creationId xmlns:a16="http://schemas.microsoft.com/office/drawing/2014/main" id="{6732C5F1-34D9-39B0-AF71-AC36D15521CC}"/>
                </a:ext>
              </a:extLst>
            </p:cNvPr>
            <p:cNvSpPr txBox="1"/>
            <p:nvPr/>
          </p:nvSpPr>
          <p:spPr>
            <a:xfrm>
              <a:off x="57958" y="1502"/>
              <a:ext cx="502301" cy="197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126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endParaRPr>
            </a:p>
            <a:p>
              <a:pPr marL="0" marR="0" lvl="0" indent="0" algn="ctr" defTabSz="457200" rtl="0" eaLnBrk="1" fontAlgn="auto" latinLnBrk="0" hangingPunct="1">
                <a:lnSpc>
                  <a:spcPts val="126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va Sans"/>
                  <a:ea typeface="Canva Sans"/>
                  <a:cs typeface="Canva Sans"/>
                  <a:sym typeface="Canva Sans"/>
                </a:rPr>
                <a:t>evaluation</a:t>
              </a:r>
            </a:p>
          </p:txBody>
        </p:sp>
      </p:grpSp>
      <p:sp>
        <p:nvSpPr>
          <p:cNvPr id="247" name="AutoShape 10">
            <a:extLst>
              <a:ext uri="{FF2B5EF4-FFF2-40B4-BE49-F238E27FC236}">
                <a16:creationId xmlns:a16="http://schemas.microsoft.com/office/drawing/2014/main" id="{AE0EE7D6-1F39-614D-737A-CEBC239A827A}"/>
              </a:ext>
            </a:extLst>
          </p:cNvPr>
          <p:cNvSpPr/>
          <p:nvPr/>
        </p:nvSpPr>
        <p:spPr>
          <a:xfrm flipH="1" flipV="1">
            <a:off x="6198170" y="3380032"/>
            <a:ext cx="3570983" cy="26534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48" name="Group 11">
            <a:extLst>
              <a:ext uri="{FF2B5EF4-FFF2-40B4-BE49-F238E27FC236}">
                <a16:creationId xmlns:a16="http://schemas.microsoft.com/office/drawing/2014/main" id="{267D3FD2-3E7C-8B2D-DDF2-37FDA73BCB27}"/>
              </a:ext>
            </a:extLst>
          </p:cNvPr>
          <p:cNvGrpSpPr/>
          <p:nvPr/>
        </p:nvGrpSpPr>
        <p:grpSpPr>
          <a:xfrm>
            <a:off x="8665440" y="3911180"/>
            <a:ext cx="2911104" cy="2901104"/>
            <a:chOff x="0" y="0"/>
            <a:chExt cx="888658" cy="363972"/>
          </a:xfrm>
        </p:grpSpPr>
        <p:sp>
          <p:nvSpPr>
            <p:cNvPr id="249" name="Freeform 12">
              <a:extLst>
                <a:ext uri="{FF2B5EF4-FFF2-40B4-BE49-F238E27FC236}">
                  <a16:creationId xmlns:a16="http://schemas.microsoft.com/office/drawing/2014/main" id="{448FB5DB-DCA7-1FC3-E600-466C5CAA4F4B}"/>
                </a:ext>
              </a:extLst>
            </p:cNvPr>
            <p:cNvSpPr/>
            <p:nvPr/>
          </p:nvSpPr>
          <p:spPr>
            <a:xfrm>
              <a:off x="0" y="0"/>
              <a:ext cx="888658" cy="363972"/>
            </a:xfrm>
            <a:custGeom>
              <a:avLst/>
              <a:gdLst/>
              <a:ahLst/>
              <a:cxnLst/>
              <a:rect l="l" t="t" r="r" b="b"/>
              <a:pathLst>
                <a:path w="888658" h="363972">
                  <a:moveTo>
                    <a:pt x="444329" y="0"/>
                  </a:moveTo>
                  <a:cubicBezTo>
                    <a:pt x="198933" y="0"/>
                    <a:pt x="0" y="81478"/>
                    <a:pt x="0" y="181986"/>
                  </a:cubicBezTo>
                  <a:cubicBezTo>
                    <a:pt x="0" y="282494"/>
                    <a:pt x="198933" y="363972"/>
                    <a:pt x="444329" y="363972"/>
                  </a:cubicBezTo>
                  <a:cubicBezTo>
                    <a:pt x="689725" y="363972"/>
                    <a:pt x="888658" y="282494"/>
                    <a:pt x="888658" y="181986"/>
                  </a:cubicBezTo>
                  <a:cubicBezTo>
                    <a:pt x="888658" y="81478"/>
                    <a:pt x="689725" y="0"/>
                    <a:pt x="444329" y="0"/>
                  </a:cubicBezTo>
                  <a:close/>
                </a:path>
              </a:pathLst>
            </a:custGeom>
            <a:solidFill>
              <a:srgbClr val="CAEFFB"/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0" name="TextBox 13">
              <a:extLst>
                <a:ext uri="{FF2B5EF4-FFF2-40B4-BE49-F238E27FC236}">
                  <a16:creationId xmlns:a16="http://schemas.microsoft.com/office/drawing/2014/main" id="{5283C59E-7AC0-1A73-7DFE-4AB7139D279D}"/>
                </a:ext>
              </a:extLst>
            </p:cNvPr>
            <p:cNvSpPr txBox="1"/>
            <p:nvPr/>
          </p:nvSpPr>
          <p:spPr>
            <a:xfrm>
              <a:off x="54265" y="30137"/>
              <a:ext cx="780127" cy="314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va Sans"/>
                  <a:ea typeface="Canva Sans"/>
                  <a:cs typeface="Canva Sans"/>
                  <a:sym typeface="Canva Sans"/>
                </a:rPr>
                <a:t>fits a straight line to model relationship between x and y</a:t>
              </a:r>
            </a:p>
          </p:txBody>
        </p:sp>
      </p:grpSp>
      <p:grpSp>
        <p:nvGrpSpPr>
          <p:cNvPr id="197" name="Group 6">
            <a:extLst>
              <a:ext uri="{FF2B5EF4-FFF2-40B4-BE49-F238E27FC236}">
                <a16:creationId xmlns:a16="http://schemas.microsoft.com/office/drawing/2014/main" id="{B7E98E7C-71F3-6439-2424-A91070C37BD1}"/>
              </a:ext>
            </a:extLst>
          </p:cNvPr>
          <p:cNvGrpSpPr/>
          <p:nvPr/>
        </p:nvGrpSpPr>
        <p:grpSpPr>
          <a:xfrm>
            <a:off x="9889543" y="1439672"/>
            <a:ext cx="2071999" cy="2043918"/>
            <a:chOff x="0" y="0"/>
            <a:chExt cx="533012" cy="407535"/>
          </a:xfrm>
        </p:grpSpPr>
        <p:sp>
          <p:nvSpPr>
            <p:cNvPr id="198" name="Freeform 7">
              <a:extLst>
                <a:ext uri="{FF2B5EF4-FFF2-40B4-BE49-F238E27FC236}">
                  <a16:creationId xmlns:a16="http://schemas.microsoft.com/office/drawing/2014/main" id="{2FED8427-D7D0-13C0-358F-CA5172F3D25F}"/>
                </a:ext>
              </a:extLst>
            </p:cNvPr>
            <p:cNvSpPr/>
            <p:nvPr/>
          </p:nvSpPr>
          <p:spPr>
            <a:xfrm>
              <a:off x="0" y="0"/>
              <a:ext cx="533012" cy="407535"/>
            </a:xfrm>
            <a:custGeom>
              <a:avLst/>
              <a:gdLst/>
              <a:ahLst/>
              <a:cxnLst/>
              <a:rect l="l" t="t" r="r" b="b"/>
              <a:pathLst>
                <a:path w="533012" h="407535">
                  <a:moveTo>
                    <a:pt x="266506" y="0"/>
                  </a:moveTo>
                  <a:cubicBezTo>
                    <a:pt x="119319" y="0"/>
                    <a:pt x="0" y="91230"/>
                    <a:pt x="0" y="203767"/>
                  </a:cubicBezTo>
                  <a:cubicBezTo>
                    <a:pt x="0" y="316305"/>
                    <a:pt x="119319" y="407535"/>
                    <a:pt x="266506" y="407535"/>
                  </a:cubicBezTo>
                  <a:cubicBezTo>
                    <a:pt x="413693" y="407535"/>
                    <a:pt x="533012" y="316305"/>
                    <a:pt x="533012" y="203767"/>
                  </a:cubicBezTo>
                  <a:cubicBezTo>
                    <a:pt x="533012" y="91230"/>
                    <a:pt x="413693" y="0"/>
                    <a:pt x="266506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9" name="TextBox 8">
              <a:extLst>
                <a:ext uri="{FF2B5EF4-FFF2-40B4-BE49-F238E27FC236}">
                  <a16:creationId xmlns:a16="http://schemas.microsoft.com/office/drawing/2014/main" id="{9BAC29BB-7527-B388-FC57-82F121408CE4}"/>
                </a:ext>
              </a:extLst>
            </p:cNvPr>
            <p:cNvSpPr txBox="1"/>
            <p:nvPr/>
          </p:nvSpPr>
          <p:spPr>
            <a:xfrm>
              <a:off x="49970" y="19156"/>
              <a:ext cx="433072" cy="350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va Sans"/>
                  <a:ea typeface="Canva Sans"/>
                  <a:cs typeface="Canva Sans"/>
                  <a:sym typeface="Canva Sans"/>
                </a:rPr>
                <a:t>predictor variable (x)</a:t>
              </a:r>
            </a:p>
          </p:txBody>
        </p:sp>
      </p:grpSp>
      <p:sp>
        <p:nvSpPr>
          <p:cNvPr id="192" name="TextBox 9">
            <a:extLst>
              <a:ext uri="{FF2B5EF4-FFF2-40B4-BE49-F238E27FC236}">
                <a16:creationId xmlns:a16="http://schemas.microsoft.com/office/drawing/2014/main" id="{E23B26BE-8630-8725-198B-0ACDF8D82929}"/>
              </a:ext>
            </a:extLst>
          </p:cNvPr>
          <p:cNvSpPr txBox="1"/>
          <p:nvPr/>
        </p:nvSpPr>
        <p:spPr>
          <a:xfrm>
            <a:off x="4856807" y="3044872"/>
            <a:ext cx="1925333" cy="984885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Linear</a:t>
            </a:r>
          </a:p>
          <a:p>
            <a:pPr marL="0" marR="0" lvl="0" indent="0" algn="ctr" defTabSz="4572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Regression</a:t>
            </a:r>
          </a:p>
        </p:txBody>
      </p:sp>
      <p:sp>
        <p:nvSpPr>
          <p:cNvPr id="2" name="AutoShape 18">
            <a:extLst>
              <a:ext uri="{FF2B5EF4-FFF2-40B4-BE49-F238E27FC236}">
                <a16:creationId xmlns:a16="http://schemas.microsoft.com/office/drawing/2014/main" id="{8F59B19F-3577-97C1-6B4A-051B16EF57EC}"/>
              </a:ext>
            </a:extLst>
          </p:cNvPr>
          <p:cNvSpPr/>
          <p:nvPr/>
        </p:nvSpPr>
        <p:spPr>
          <a:xfrm>
            <a:off x="1336198" y="1707105"/>
            <a:ext cx="242133" cy="2276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17" name="Group 22">
            <a:extLst>
              <a:ext uri="{FF2B5EF4-FFF2-40B4-BE49-F238E27FC236}">
                <a16:creationId xmlns:a16="http://schemas.microsoft.com/office/drawing/2014/main" id="{C1C46EBC-D0F6-29C4-A434-E42E2ABF26D2}"/>
              </a:ext>
            </a:extLst>
          </p:cNvPr>
          <p:cNvGrpSpPr/>
          <p:nvPr/>
        </p:nvGrpSpPr>
        <p:grpSpPr>
          <a:xfrm>
            <a:off x="2114842" y="2433282"/>
            <a:ext cx="2414203" cy="2276890"/>
            <a:chOff x="0" y="0"/>
            <a:chExt cx="690061" cy="520067"/>
          </a:xfrm>
        </p:grpSpPr>
        <p:sp>
          <p:nvSpPr>
            <p:cNvPr id="218" name="Freeform 23">
              <a:extLst>
                <a:ext uri="{FF2B5EF4-FFF2-40B4-BE49-F238E27FC236}">
                  <a16:creationId xmlns:a16="http://schemas.microsoft.com/office/drawing/2014/main" id="{7AA56116-EC22-A273-9672-4C42BC084C0A}"/>
                </a:ext>
              </a:extLst>
            </p:cNvPr>
            <p:cNvSpPr/>
            <p:nvPr/>
          </p:nvSpPr>
          <p:spPr>
            <a:xfrm>
              <a:off x="0" y="0"/>
              <a:ext cx="690061" cy="520067"/>
            </a:xfrm>
            <a:custGeom>
              <a:avLst/>
              <a:gdLst/>
              <a:ahLst/>
              <a:cxnLst/>
              <a:rect l="l" t="t" r="r" b="b"/>
              <a:pathLst>
                <a:path w="690061" h="520067">
                  <a:moveTo>
                    <a:pt x="345031" y="0"/>
                  </a:moveTo>
                  <a:cubicBezTo>
                    <a:pt x="154475" y="0"/>
                    <a:pt x="0" y="116421"/>
                    <a:pt x="0" y="260033"/>
                  </a:cubicBezTo>
                  <a:cubicBezTo>
                    <a:pt x="0" y="403646"/>
                    <a:pt x="154475" y="520067"/>
                    <a:pt x="345031" y="520067"/>
                  </a:cubicBezTo>
                  <a:cubicBezTo>
                    <a:pt x="535586" y="520067"/>
                    <a:pt x="690061" y="403646"/>
                    <a:pt x="690061" y="260033"/>
                  </a:cubicBezTo>
                  <a:cubicBezTo>
                    <a:pt x="690061" y="116421"/>
                    <a:pt x="535586" y="0"/>
                    <a:pt x="345031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9" name="TextBox 24">
              <a:extLst>
                <a:ext uri="{FF2B5EF4-FFF2-40B4-BE49-F238E27FC236}">
                  <a16:creationId xmlns:a16="http://schemas.microsoft.com/office/drawing/2014/main" id="{902C2276-FA3D-A6B6-3534-CDC2266E0140}"/>
                </a:ext>
              </a:extLst>
            </p:cNvPr>
            <p:cNvSpPr txBox="1"/>
            <p:nvPr/>
          </p:nvSpPr>
          <p:spPr>
            <a:xfrm>
              <a:off x="37027" y="50677"/>
              <a:ext cx="610999" cy="441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va Sans"/>
                  <a:ea typeface="Canva Sans"/>
                  <a:cs typeface="Canva Sans"/>
                  <a:sym typeface="Canva Sans"/>
                </a:rPr>
                <a:t>Root mean squared error (RMSE)</a:t>
              </a:r>
            </a:p>
          </p:txBody>
        </p:sp>
      </p:grpSp>
      <p:grpSp>
        <p:nvGrpSpPr>
          <p:cNvPr id="214" name="Group 19">
            <a:extLst>
              <a:ext uri="{FF2B5EF4-FFF2-40B4-BE49-F238E27FC236}">
                <a16:creationId xmlns:a16="http://schemas.microsoft.com/office/drawing/2014/main" id="{B957E933-1082-8871-B159-A39CFCD64D73}"/>
              </a:ext>
            </a:extLst>
          </p:cNvPr>
          <p:cNvGrpSpPr/>
          <p:nvPr/>
        </p:nvGrpSpPr>
        <p:grpSpPr>
          <a:xfrm>
            <a:off x="2624199" y="214703"/>
            <a:ext cx="2125681" cy="2036661"/>
            <a:chOff x="0" y="0"/>
            <a:chExt cx="590628" cy="462489"/>
          </a:xfrm>
        </p:grpSpPr>
        <p:sp>
          <p:nvSpPr>
            <p:cNvPr id="215" name="Freeform 20">
              <a:extLst>
                <a:ext uri="{FF2B5EF4-FFF2-40B4-BE49-F238E27FC236}">
                  <a16:creationId xmlns:a16="http://schemas.microsoft.com/office/drawing/2014/main" id="{700194F1-04B4-9549-22BA-3C38CDA1DFEA}"/>
                </a:ext>
              </a:extLst>
            </p:cNvPr>
            <p:cNvSpPr/>
            <p:nvPr/>
          </p:nvSpPr>
          <p:spPr>
            <a:xfrm>
              <a:off x="0" y="0"/>
              <a:ext cx="590628" cy="462489"/>
            </a:xfrm>
            <a:custGeom>
              <a:avLst/>
              <a:gdLst/>
              <a:ahLst/>
              <a:cxnLst/>
              <a:rect l="l" t="t" r="r" b="b"/>
              <a:pathLst>
                <a:path w="590628" h="462489">
                  <a:moveTo>
                    <a:pt x="295314" y="0"/>
                  </a:moveTo>
                  <a:cubicBezTo>
                    <a:pt x="132217" y="0"/>
                    <a:pt x="0" y="103532"/>
                    <a:pt x="0" y="231245"/>
                  </a:cubicBezTo>
                  <a:cubicBezTo>
                    <a:pt x="0" y="358957"/>
                    <a:pt x="132217" y="462489"/>
                    <a:pt x="295314" y="462489"/>
                  </a:cubicBezTo>
                  <a:cubicBezTo>
                    <a:pt x="458411" y="462489"/>
                    <a:pt x="590628" y="358957"/>
                    <a:pt x="590628" y="231245"/>
                  </a:cubicBezTo>
                  <a:cubicBezTo>
                    <a:pt x="590628" y="103532"/>
                    <a:pt x="458411" y="0"/>
                    <a:pt x="295314" y="0"/>
                  </a:cubicBezTo>
                  <a:close/>
                </a:path>
              </a:pathLst>
            </a:custGeom>
            <a:solidFill>
              <a:srgbClr val="E7E7E7"/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6" name="TextBox 21">
              <a:extLst>
                <a:ext uri="{FF2B5EF4-FFF2-40B4-BE49-F238E27FC236}">
                  <a16:creationId xmlns:a16="http://schemas.microsoft.com/office/drawing/2014/main" id="{2036A1F3-5DAC-4572-D501-B53FEE048D11}"/>
                </a:ext>
              </a:extLst>
            </p:cNvPr>
            <p:cNvSpPr txBox="1"/>
            <p:nvPr/>
          </p:nvSpPr>
          <p:spPr>
            <a:xfrm>
              <a:off x="55371" y="24308"/>
              <a:ext cx="479885" cy="394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average prediction error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205" name="Group 83">
            <a:extLst>
              <a:ext uri="{FF2B5EF4-FFF2-40B4-BE49-F238E27FC236}">
                <a16:creationId xmlns:a16="http://schemas.microsoft.com/office/drawing/2014/main" id="{BCB4AFAD-865F-A946-70A8-D21AE8860ABD}"/>
              </a:ext>
            </a:extLst>
          </p:cNvPr>
          <p:cNvGrpSpPr/>
          <p:nvPr/>
        </p:nvGrpSpPr>
        <p:grpSpPr>
          <a:xfrm>
            <a:off x="4897266" y="37002"/>
            <a:ext cx="2585621" cy="2449360"/>
            <a:chOff x="0" y="0"/>
            <a:chExt cx="639079" cy="295003"/>
          </a:xfrm>
        </p:grpSpPr>
        <p:sp>
          <p:nvSpPr>
            <p:cNvPr id="206" name="Freeform 84">
              <a:extLst>
                <a:ext uri="{FF2B5EF4-FFF2-40B4-BE49-F238E27FC236}">
                  <a16:creationId xmlns:a16="http://schemas.microsoft.com/office/drawing/2014/main" id="{5D43306F-94EE-5C53-0559-07FB3690AAFA}"/>
                </a:ext>
              </a:extLst>
            </p:cNvPr>
            <p:cNvSpPr/>
            <p:nvPr/>
          </p:nvSpPr>
          <p:spPr>
            <a:xfrm>
              <a:off x="0" y="0"/>
              <a:ext cx="639079" cy="295003"/>
            </a:xfrm>
            <a:custGeom>
              <a:avLst/>
              <a:gdLst/>
              <a:ahLst/>
              <a:cxnLst/>
              <a:rect l="l" t="t" r="r" b="b"/>
              <a:pathLst>
                <a:path w="639079" h="295003">
                  <a:moveTo>
                    <a:pt x="319539" y="0"/>
                  </a:moveTo>
                  <a:cubicBezTo>
                    <a:pt x="143063" y="0"/>
                    <a:pt x="0" y="66039"/>
                    <a:pt x="0" y="147502"/>
                  </a:cubicBezTo>
                  <a:cubicBezTo>
                    <a:pt x="0" y="228965"/>
                    <a:pt x="143063" y="295003"/>
                    <a:pt x="319539" y="295003"/>
                  </a:cubicBezTo>
                  <a:cubicBezTo>
                    <a:pt x="496016" y="295003"/>
                    <a:pt x="639079" y="228965"/>
                    <a:pt x="639079" y="147502"/>
                  </a:cubicBezTo>
                  <a:cubicBezTo>
                    <a:pt x="639079" y="66039"/>
                    <a:pt x="496016" y="0"/>
                    <a:pt x="319539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7" name="TextBox 85">
              <a:extLst>
                <a:ext uri="{FF2B5EF4-FFF2-40B4-BE49-F238E27FC236}">
                  <a16:creationId xmlns:a16="http://schemas.microsoft.com/office/drawing/2014/main" id="{3D42DEB3-B3C6-80CF-B7BC-3F9671632AF0}"/>
                </a:ext>
              </a:extLst>
            </p:cNvPr>
            <p:cNvSpPr txBox="1"/>
            <p:nvPr/>
          </p:nvSpPr>
          <p:spPr>
            <a:xfrm>
              <a:off x="59914" y="8607"/>
              <a:ext cx="519251" cy="258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va Sans Bold"/>
                  <a:ea typeface="Canva Sans Bold"/>
                  <a:cs typeface="Canva Sans Bold"/>
                  <a:sym typeface="Canva Sans Bold"/>
                </a:rPr>
                <a:t>numeric response variable (y)</a:t>
              </a:r>
            </a:p>
          </p:txBody>
        </p:sp>
      </p:grpSp>
      <p:grpSp>
        <p:nvGrpSpPr>
          <p:cNvPr id="236" name="Group 79">
            <a:extLst>
              <a:ext uri="{FF2B5EF4-FFF2-40B4-BE49-F238E27FC236}">
                <a16:creationId xmlns:a16="http://schemas.microsoft.com/office/drawing/2014/main" id="{0F092831-FE4D-7C04-23C6-170335123B9F}"/>
              </a:ext>
            </a:extLst>
          </p:cNvPr>
          <p:cNvGrpSpPr/>
          <p:nvPr/>
        </p:nvGrpSpPr>
        <p:grpSpPr>
          <a:xfrm>
            <a:off x="468057" y="1493941"/>
            <a:ext cx="1806369" cy="1674422"/>
            <a:chOff x="0" y="0"/>
            <a:chExt cx="484941" cy="265456"/>
          </a:xfrm>
        </p:grpSpPr>
        <p:sp>
          <p:nvSpPr>
            <p:cNvPr id="237" name="Freeform 80">
              <a:extLst>
                <a:ext uri="{FF2B5EF4-FFF2-40B4-BE49-F238E27FC236}">
                  <a16:creationId xmlns:a16="http://schemas.microsoft.com/office/drawing/2014/main" id="{85C00D98-2779-E38E-D0FD-EF871BD15FA3}"/>
                </a:ext>
              </a:extLst>
            </p:cNvPr>
            <p:cNvSpPr/>
            <p:nvPr/>
          </p:nvSpPr>
          <p:spPr>
            <a:xfrm>
              <a:off x="0" y="0"/>
              <a:ext cx="484941" cy="265456"/>
            </a:xfrm>
            <a:custGeom>
              <a:avLst/>
              <a:gdLst/>
              <a:ahLst/>
              <a:cxnLst/>
              <a:rect l="l" t="t" r="r" b="b"/>
              <a:pathLst>
                <a:path w="484941" h="265456">
                  <a:moveTo>
                    <a:pt x="242471" y="0"/>
                  </a:moveTo>
                  <a:cubicBezTo>
                    <a:pt x="108558" y="0"/>
                    <a:pt x="0" y="59424"/>
                    <a:pt x="0" y="132728"/>
                  </a:cubicBezTo>
                  <a:cubicBezTo>
                    <a:pt x="0" y="206031"/>
                    <a:pt x="108558" y="265456"/>
                    <a:pt x="242471" y="265456"/>
                  </a:cubicBezTo>
                  <a:cubicBezTo>
                    <a:pt x="376383" y="265456"/>
                    <a:pt x="484941" y="206031"/>
                    <a:pt x="484941" y="132728"/>
                  </a:cubicBezTo>
                  <a:cubicBezTo>
                    <a:pt x="484941" y="59424"/>
                    <a:pt x="376383" y="0"/>
                    <a:pt x="242471" y="0"/>
                  </a:cubicBezTo>
                  <a:close/>
                </a:path>
              </a:pathLst>
            </a:custGeom>
            <a:solidFill>
              <a:srgbClr val="E7E7E7"/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8" name="TextBox 81">
              <a:extLst>
                <a:ext uri="{FF2B5EF4-FFF2-40B4-BE49-F238E27FC236}">
                  <a16:creationId xmlns:a16="http://schemas.microsoft.com/office/drawing/2014/main" id="{46737229-C3DF-5D50-B9F2-1A06B486378F}"/>
                </a:ext>
              </a:extLst>
            </p:cNvPr>
            <p:cNvSpPr txBox="1"/>
            <p:nvPr/>
          </p:nvSpPr>
          <p:spPr>
            <a:xfrm>
              <a:off x="45463" y="5836"/>
              <a:ext cx="394015" cy="234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va Sans"/>
                  <a:ea typeface="Canva Sans"/>
                  <a:cs typeface="Canva Sans"/>
                  <a:sym typeface="Canva Sans"/>
                </a:rPr>
                <a:t>ow much variance explained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BE1BE8F-AE01-443A-30FB-B3516B61E40E}"/>
              </a:ext>
            </a:extLst>
          </p:cNvPr>
          <p:cNvSpPr txBox="1"/>
          <p:nvPr/>
        </p:nvSpPr>
        <p:spPr>
          <a:xfrm>
            <a:off x="142127" y="149737"/>
            <a:ext cx="2410973" cy="523220"/>
          </a:xfrm>
          <a:prstGeom prst="rect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CA" sz="2800" dirty="0">
                <a:solidFill>
                  <a:schemeClr val="bg1"/>
                </a:solidFill>
              </a:rPr>
              <a:t>Concept map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516C0110-BF23-1E19-2B59-95569A4DFD30}"/>
              </a:ext>
            </a:extLst>
          </p:cNvPr>
          <p:cNvSpPr/>
          <p:nvPr/>
        </p:nvSpPr>
        <p:spPr>
          <a:xfrm flipH="1">
            <a:off x="804695" y="4823480"/>
            <a:ext cx="650169" cy="169106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7" name="Group 79">
            <a:extLst>
              <a:ext uri="{FF2B5EF4-FFF2-40B4-BE49-F238E27FC236}">
                <a16:creationId xmlns:a16="http://schemas.microsoft.com/office/drawing/2014/main" id="{8E23AA33-7CDA-CEE6-3263-9F2A595356B7}"/>
              </a:ext>
            </a:extLst>
          </p:cNvPr>
          <p:cNvGrpSpPr/>
          <p:nvPr/>
        </p:nvGrpSpPr>
        <p:grpSpPr>
          <a:xfrm>
            <a:off x="48859" y="5349293"/>
            <a:ext cx="1643901" cy="1457595"/>
            <a:chOff x="0" y="0"/>
            <a:chExt cx="484941" cy="265456"/>
          </a:xfrm>
        </p:grpSpPr>
        <p:sp>
          <p:nvSpPr>
            <p:cNvPr id="8" name="Freeform 80">
              <a:extLst>
                <a:ext uri="{FF2B5EF4-FFF2-40B4-BE49-F238E27FC236}">
                  <a16:creationId xmlns:a16="http://schemas.microsoft.com/office/drawing/2014/main" id="{68AA32FD-FD6C-9443-820E-7C4A1199FF21}"/>
                </a:ext>
              </a:extLst>
            </p:cNvPr>
            <p:cNvSpPr/>
            <p:nvPr/>
          </p:nvSpPr>
          <p:spPr>
            <a:xfrm>
              <a:off x="0" y="0"/>
              <a:ext cx="484941" cy="265456"/>
            </a:xfrm>
            <a:custGeom>
              <a:avLst/>
              <a:gdLst/>
              <a:ahLst/>
              <a:cxnLst/>
              <a:rect l="l" t="t" r="r" b="b"/>
              <a:pathLst>
                <a:path w="484941" h="265456">
                  <a:moveTo>
                    <a:pt x="242471" y="0"/>
                  </a:moveTo>
                  <a:cubicBezTo>
                    <a:pt x="108558" y="0"/>
                    <a:pt x="0" y="59424"/>
                    <a:pt x="0" y="132728"/>
                  </a:cubicBezTo>
                  <a:cubicBezTo>
                    <a:pt x="0" y="206031"/>
                    <a:pt x="108558" y="265456"/>
                    <a:pt x="242471" y="265456"/>
                  </a:cubicBezTo>
                  <a:cubicBezTo>
                    <a:pt x="376383" y="265456"/>
                    <a:pt x="484941" y="206031"/>
                    <a:pt x="484941" y="132728"/>
                  </a:cubicBezTo>
                  <a:cubicBezTo>
                    <a:pt x="484941" y="59424"/>
                    <a:pt x="376383" y="0"/>
                    <a:pt x="242471" y="0"/>
                  </a:cubicBezTo>
                  <a:close/>
                </a:path>
              </a:pathLst>
            </a:custGeom>
            <a:solidFill>
              <a:srgbClr val="E7E7E7"/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TextBox 81">
              <a:extLst>
                <a:ext uri="{FF2B5EF4-FFF2-40B4-BE49-F238E27FC236}">
                  <a16:creationId xmlns:a16="http://schemas.microsoft.com/office/drawing/2014/main" id="{E1FD3C53-B55D-E787-74D5-60715067CEF7}"/>
                </a:ext>
              </a:extLst>
            </p:cNvPr>
            <p:cNvSpPr txBox="1"/>
            <p:nvPr/>
          </p:nvSpPr>
          <p:spPr>
            <a:xfrm>
              <a:off x="19244" y="25284"/>
              <a:ext cx="444310" cy="234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Pearson’s correlation (</a:t>
              </a:r>
              <a:r>
                <a:rPr lang="en-US" sz="2400" i="1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</a:t>
              </a:r>
              <a:r>
                <a:rPr lang="en-US" sz="2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)</a:t>
              </a:r>
              <a:endParaRPr kumimoji="0" lang="en-US" sz="24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233" name="Group 75">
            <a:extLst>
              <a:ext uri="{FF2B5EF4-FFF2-40B4-BE49-F238E27FC236}">
                <a16:creationId xmlns:a16="http://schemas.microsoft.com/office/drawing/2014/main" id="{0CEC6EFA-C55A-E05F-9B1E-4D48C29DA777}"/>
              </a:ext>
            </a:extLst>
          </p:cNvPr>
          <p:cNvGrpSpPr/>
          <p:nvPr/>
        </p:nvGrpSpPr>
        <p:grpSpPr>
          <a:xfrm>
            <a:off x="769575" y="3820514"/>
            <a:ext cx="1436787" cy="1278171"/>
            <a:chOff x="0" y="0"/>
            <a:chExt cx="515408" cy="308567"/>
          </a:xfrm>
        </p:grpSpPr>
        <p:sp>
          <p:nvSpPr>
            <p:cNvPr id="234" name="Freeform 76">
              <a:extLst>
                <a:ext uri="{FF2B5EF4-FFF2-40B4-BE49-F238E27FC236}">
                  <a16:creationId xmlns:a16="http://schemas.microsoft.com/office/drawing/2014/main" id="{817EB90C-8D49-2C12-2CF3-EB6351855167}"/>
                </a:ext>
              </a:extLst>
            </p:cNvPr>
            <p:cNvSpPr/>
            <p:nvPr/>
          </p:nvSpPr>
          <p:spPr>
            <a:xfrm>
              <a:off x="0" y="0"/>
              <a:ext cx="515408" cy="308567"/>
            </a:xfrm>
            <a:custGeom>
              <a:avLst/>
              <a:gdLst/>
              <a:ahLst/>
              <a:cxnLst/>
              <a:rect l="l" t="t" r="r" b="b"/>
              <a:pathLst>
                <a:path w="515408" h="308567">
                  <a:moveTo>
                    <a:pt x="257704" y="0"/>
                  </a:moveTo>
                  <a:cubicBezTo>
                    <a:pt x="115378" y="0"/>
                    <a:pt x="0" y="69075"/>
                    <a:pt x="0" y="154284"/>
                  </a:cubicBezTo>
                  <a:cubicBezTo>
                    <a:pt x="0" y="239492"/>
                    <a:pt x="115378" y="308567"/>
                    <a:pt x="257704" y="308567"/>
                  </a:cubicBezTo>
                  <a:cubicBezTo>
                    <a:pt x="400030" y="308567"/>
                    <a:pt x="515408" y="239492"/>
                    <a:pt x="515408" y="154284"/>
                  </a:cubicBezTo>
                  <a:cubicBezTo>
                    <a:pt x="515408" y="69075"/>
                    <a:pt x="400030" y="0"/>
                    <a:pt x="257704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5" name="TextBox 77">
              <a:extLst>
                <a:ext uri="{FF2B5EF4-FFF2-40B4-BE49-F238E27FC236}">
                  <a16:creationId xmlns:a16="http://schemas.microsoft.com/office/drawing/2014/main" id="{159C7142-2FFE-8A18-F894-6F08AD753A15}"/>
                </a:ext>
              </a:extLst>
            </p:cNvPr>
            <p:cNvSpPr txBox="1"/>
            <p:nvPr/>
          </p:nvSpPr>
          <p:spPr>
            <a:xfrm>
              <a:off x="48319" y="9878"/>
              <a:ext cx="418769" cy="269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</a:t>
              </a:r>
              <a:r>
                <a:rPr lang="en-US" sz="2400" baseline="300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  <a:endPara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756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" grpId="0" animBg="1"/>
      <p:bldP spid="231" grpId="0" animBg="1"/>
      <p:bldP spid="193" grpId="0" animBg="1"/>
      <p:bldP spid="200" grpId="0" animBg="1"/>
      <p:bldP spid="204" grpId="0" animBg="1"/>
      <p:bldP spid="212" grpId="0" animBg="1"/>
      <p:bldP spid="213" grpId="0" animBg="1"/>
      <p:bldP spid="247" grpId="0" animBg="1"/>
      <p:bldP spid="2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CAC20-9017-EE9F-ECBD-52CBCA89E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55732-F480-9A1B-BD7D-380CB712A4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Thank you!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C8DD7-3BF0-CDE8-4108-634B5F18CB65}"/>
              </a:ext>
            </a:extLst>
          </p:cNvPr>
          <p:cNvSpPr txBox="1"/>
          <p:nvPr/>
        </p:nvSpPr>
        <p:spPr>
          <a:xfrm>
            <a:off x="47500" y="638599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Acknowledgements</a:t>
            </a:r>
            <a:r>
              <a:rPr lang="en-US" sz="1600" dirty="0"/>
              <a:t>: </a:t>
            </a:r>
            <a:r>
              <a:rPr lang="en-US" sz="1600" i="1" dirty="0"/>
              <a:t>The</a:t>
            </a:r>
            <a:r>
              <a:rPr lang="en-US" sz="1600" dirty="0"/>
              <a:t> </a:t>
            </a:r>
            <a:r>
              <a:rPr lang="en-US" sz="1600" i="1" dirty="0"/>
              <a:t>content in this demonstration was adapted from material I’ve previously developed at the Data Science Institute</a:t>
            </a:r>
          </a:p>
          <a:p>
            <a:endParaRPr lang="en-US" sz="1600" i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1CE27C3-643F-3D15-5C82-55064BE1C5D9}"/>
              </a:ext>
            </a:extLst>
          </p:cNvPr>
          <p:cNvSpPr txBox="1">
            <a:spLocks/>
          </p:cNvSpPr>
          <p:nvPr/>
        </p:nvSpPr>
        <p:spPr>
          <a:xfrm>
            <a:off x="1524000" y="3602038"/>
            <a:ext cx="9144000" cy="1136217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b="1" dirty="0"/>
          </a:p>
          <a:p>
            <a:pPr algn="l"/>
            <a:r>
              <a:rPr lang="en-US" dirty="0"/>
              <a:t>Questions?</a:t>
            </a:r>
            <a:endParaRPr lang="en-US" sz="1400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EED632-272A-E2DE-3839-F9363EC8B5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0" y="247504"/>
            <a:ext cx="1303179" cy="16576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9E9FBF-D53F-B78C-F5EE-3BB5084D313B}"/>
              </a:ext>
            </a:extLst>
          </p:cNvPr>
          <p:cNvSpPr txBox="1"/>
          <p:nvPr/>
        </p:nvSpPr>
        <p:spPr>
          <a:xfrm>
            <a:off x="10766099" y="1489777"/>
            <a:ext cx="1131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Scan me!</a:t>
            </a:r>
          </a:p>
        </p:txBody>
      </p:sp>
    </p:spTree>
    <p:extLst>
      <p:ext uri="{BB962C8B-B14F-4D97-AF65-F5344CB8AC3E}">
        <p14:creationId xmlns:p14="http://schemas.microsoft.com/office/powerpoint/2010/main" val="2195295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40C0F4-CC16-26B7-0C1C-13E0835F2F69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F9ED5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0310229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788942-A90B-4191-DB4E-8635EB19F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A56C48D-8330-5AF8-665F-30FA3638CC73}"/>
              </a:ext>
            </a:extLst>
          </p:cNvPr>
          <p:cNvSpPr txBox="1">
            <a:spLocks/>
          </p:cNvSpPr>
          <p:nvPr/>
        </p:nvSpPr>
        <p:spPr>
          <a:xfrm>
            <a:off x="702128" y="517525"/>
            <a:ext cx="106516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Simple</a:t>
            </a:r>
            <a:r>
              <a:rPr lang="en-US" dirty="0">
                <a:solidFill>
                  <a:prstClr val="black"/>
                </a:solidFill>
                <a:latin typeface="Aptos Display" panose="02110004020202020204"/>
              </a:rPr>
              <a:t> linear regression is just the start!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F6F61C7-2976-C825-55A8-0E08054B5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989137"/>
            <a:ext cx="10511972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Some extensions allow us to model </a:t>
            </a:r>
            <a:r>
              <a:rPr lang="en-CA" sz="2400" b="1" dirty="0">
                <a:solidFill>
                  <a:schemeClr val="bg1"/>
                </a:solidFill>
              </a:rPr>
              <a:t>more complex patterns</a:t>
            </a:r>
            <a:r>
              <a:rPr lang="en-CA" sz="2400" dirty="0">
                <a:solidFill>
                  <a:schemeClr val="bg1"/>
                </a:solidFill>
              </a:rPr>
              <a:t> in our data: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CA" i="1" dirty="0">
              <a:solidFill>
                <a:schemeClr val="bg1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CA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0DAE5B-3B80-7834-CEF0-9ADAAA7118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42"/>
          <a:stretch/>
        </p:blipFill>
        <p:spPr>
          <a:xfrm>
            <a:off x="6210432" y="2732970"/>
            <a:ext cx="5642923" cy="37579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3B274B-26E0-0576-031C-01749FFB7832}"/>
              </a:ext>
            </a:extLst>
          </p:cNvPr>
          <p:cNvSpPr txBox="1"/>
          <p:nvPr/>
        </p:nvSpPr>
        <p:spPr>
          <a:xfrm>
            <a:off x="702128" y="2486429"/>
            <a:ext cx="614755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CA" sz="2400" b="1" dirty="0">
                <a:solidFill>
                  <a:schemeClr val="bg1"/>
                </a:solidFill>
              </a:rPr>
              <a:t>Include categorical predictors</a:t>
            </a:r>
            <a:br>
              <a:rPr lang="en-CA" sz="2400" dirty="0">
                <a:solidFill>
                  <a:schemeClr val="bg1"/>
                </a:solidFill>
              </a:rPr>
            </a:br>
            <a:r>
              <a:rPr lang="en-CA" sz="2400" i="1" dirty="0">
                <a:solidFill>
                  <a:schemeClr val="bg1"/>
                </a:solidFill>
              </a:rPr>
              <a:t>(e.g., type of home — Residential, Multi-family, Condo)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CA" sz="2400" dirty="0">
              <a:solidFill>
                <a:schemeClr val="bg1"/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CA" sz="2400" b="1" dirty="0">
                <a:solidFill>
                  <a:schemeClr val="bg1"/>
                </a:solidFill>
              </a:rPr>
              <a:t>Add multiple predictors</a:t>
            </a:r>
            <a:br>
              <a:rPr lang="en-CA" sz="2400" dirty="0">
                <a:solidFill>
                  <a:schemeClr val="bg1"/>
                </a:solidFill>
              </a:rPr>
            </a:br>
            <a:r>
              <a:rPr lang="en-CA" sz="2400" i="1" dirty="0">
                <a:solidFill>
                  <a:schemeClr val="bg1"/>
                </a:solidFill>
              </a:rPr>
              <a:t>(e.g., house size + number of bedrooms)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CA" sz="2400" dirty="0">
              <a:solidFill>
                <a:schemeClr val="bg1"/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CA" sz="2400" b="1" dirty="0">
                <a:solidFill>
                  <a:schemeClr val="bg1"/>
                </a:solidFill>
              </a:rPr>
              <a:t>Model non-linear relationships</a:t>
            </a:r>
            <a:br>
              <a:rPr lang="en-CA" sz="2400" dirty="0">
                <a:solidFill>
                  <a:schemeClr val="bg1"/>
                </a:solidFill>
              </a:rPr>
            </a:br>
            <a:r>
              <a:rPr lang="en-CA" sz="2400" i="1" dirty="0">
                <a:solidFill>
                  <a:schemeClr val="bg1"/>
                </a:solidFill>
              </a:rPr>
              <a:t>(e.g., curved trends captured using polynomial terms)</a:t>
            </a:r>
          </a:p>
        </p:txBody>
      </p:sp>
    </p:spTree>
    <p:extLst>
      <p:ext uri="{BB962C8B-B14F-4D97-AF65-F5344CB8AC3E}">
        <p14:creationId xmlns:p14="http://schemas.microsoft.com/office/powerpoint/2010/main" val="21396129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21151-4F6A-781A-C1D9-A822C7C9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DF11C-1282-F282-3CF7-90980F962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624327"/>
            <a:ext cx="10067471" cy="4351338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Before any analysis or modeling, it’s essential to </a:t>
            </a:r>
            <a:r>
              <a:rPr lang="en-CA" sz="2400" b="1" dirty="0">
                <a:solidFill>
                  <a:schemeClr val="bg1"/>
                </a:solidFill>
              </a:rPr>
              <a:t>explore your data</a:t>
            </a:r>
            <a:r>
              <a:rPr lang="en-CA" sz="2400" dirty="0">
                <a:solidFill>
                  <a:schemeClr val="bg1"/>
                </a:solidFill>
              </a:rPr>
              <a:t> to understand its structure and quality.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EDA helps reveal </a:t>
            </a:r>
            <a:r>
              <a:rPr lang="en-CA" sz="2400" b="1" dirty="0">
                <a:solidFill>
                  <a:schemeClr val="bg1"/>
                </a:solidFill>
              </a:rPr>
              <a:t>distributions</a:t>
            </a:r>
            <a:r>
              <a:rPr lang="en-CA" sz="2400" dirty="0">
                <a:solidFill>
                  <a:schemeClr val="bg1"/>
                </a:solidFill>
              </a:rPr>
              <a:t>, </a:t>
            </a:r>
            <a:r>
              <a:rPr lang="en-CA" sz="2400" b="1" dirty="0">
                <a:solidFill>
                  <a:schemeClr val="bg1"/>
                </a:solidFill>
              </a:rPr>
              <a:t>relationships</a:t>
            </a:r>
            <a:r>
              <a:rPr lang="en-CA" sz="2400" dirty="0">
                <a:solidFill>
                  <a:schemeClr val="bg1"/>
                </a:solidFill>
              </a:rPr>
              <a:t>, </a:t>
            </a:r>
            <a:r>
              <a:rPr lang="en-CA" sz="2400" b="1" dirty="0">
                <a:solidFill>
                  <a:schemeClr val="bg1"/>
                </a:solidFill>
              </a:rPr>
              <a:t>outliers</a:t>
            </a:r>
            <a:r>
              <a:rPr lang="en-CA" sz="2400" dirty="0">
                <a:solidFill>
                  <a:schemeClr val="bg1"/>
                </a:solidFill>
              </a:rPr>
              <a:t>, </a:t>
            </a:r>
            <a:r>
              <a:rPr lang="en-CA" sz="2400" b="1" dirty="0">
                <a:solidFill>
                  <a:schemeClr val="bg1"/>
                </a:solidFill>
              </a:rPr>
              <a:t>missing values</a:t>
            </a:r>
            <a:r>
              <a:rPr lang="en-CA" sz="2400" dirty="0">
                <a:solidFill>
                  <a:schemeClr val="bg1"/>
                </a:solidFill>
              </a:rPr>
              <a:t>, and guides </a:t>
            </a:r>
            <a:r>
              <a:rPr lang="en-CA" sz="2400" b="1" dirty="0">
                <a:solidFill>
                  <a:schemeClr val="bg1"/>
                </a:solidFill>
              </a:rPr>
              <a:t>model building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3 main steps</a:t>
            </a:r>
          </a:p>
          <a:p>
            <a:pPr marL="457200" lvl="1" indent="0">
              <a:buNone/>
            </a:pPr>
            <a:r>
              <a:rPr lang="en-CA" b="0" dirty="0">
                <a:solidFill>
                  <a:schemeClr val="bg1"/>
                </a:solidFill>
                <a:effectLst/>
              </a:rPr>
              <a:t>1. Inspect the raw data </a:t>
            </a:r>
            <a:r>
              <a:rPr lang="en-CA" b="0" dirty="0">
                <a:solidFill>
                  <a:schemeClr val="bg1"/>
                </a:solidFill>
                <a:effectLst/>
                <a:sym typeface="Wingdings" pitchFamily="2" charset="2"/>
              </a:rPr>
              <a:t></a:t>
            </a:r>
            <a:r>
              <a:rPr lang="en-CA" b="0" dirty="0">
                <a:solidFill>
                  <a:schemeClr val="bg1"/>
                </a:solidFill>
                <a:effectLst/>
              </a:rPr>
              <a:t> get a feel for what’s in the dataset.</a:t>
            </a:r>
          </a:p>
          <a:p>
            <a:pPr marL="457200" lvl="1" indent="0">
              <a:buNone/>
            </a:pPr>
            <a:r>
              <a:rPr lang="en-CA" b="0" dirty="0">
                <a:solidFill>
                  <a:schemeClr val="bg1"/>
                </a:solidFill>
                <a:effectLst/>
              </a:rPr>
              <a:t>2. Compute summary statistics </a:t>
            </a:r>
            <a:r>
              <a:rPr lang="en-CA" b="0" dirty="0">
                <a:solidFill>
                  <a:schemeClr val="bg1"/>
                </a:solidFill>
                <a:effectLst/>
                <a:sym typeface="Wingdings" pitchFamily="2" charset="2"/>
              </a:rPr>
              <a:t></a:t>
            </a:r>
            <a:r>
              <a:rPr lang="en-CA" b="0" dirty="0">
                <a:solidFill>
                  <a:schemeClr val="bg1"/>
                </a:solidFill>
                <a:effectLst/>
              </a:rPr>
              <a:t> e.g., mean, median, interquartile range.</a:t>
            </a:r>
          </a:p>
          <a:p>
            <a:pPr marL="457200" lvl="1" indent="0">
              <a:buNone/>
            </a:pPr>
            <a:r>
              <a:rPr lang="en-CA" b="0" dirty="0">
                <a:solidFill>
                  <a:schemeClr val="bg1"/>
                </a:solidFill>
                <a:effectLst/>
              </a:rPr>
              <a:t>3. Visualize the data </a:t>
            </a:r>
            <a:r>
              <a:rPr lang="en-CA" b="0" dirty="0">
                <a:solidFill>
                  <a:schemeClr val="bg1"/>
                </a:solidFill>
                <a:effectLst/>
                <a:sym typeface="Wingdings" pitchFamily="2" charset="2"/>
              </a:rPr>
              <a:t></a:t>
            </a:r>
            <a:r>
              <a:rPr lang="en-CA" b="0" dirty="0">
                <a:solidFill>
                  <a:schemeClr val="bg1"/>
                </a:solidFill>
                <a:effectLst/>
              </a:rPr>
              <a:t> use plots to spot patterns and anomalies.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sz="2400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07AF2-7E9C-D01D-6409-DA00D551A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Exploratory data analysis</a:t>
            </a:r>
          </a:p>
        </p:txBody>
      </p:sp>
      <p:pic>
        <p:nvPicPr>
          <p:cNvPr id="2056" name="Picture 8" descr="Median Icon: Over 920 Royalty-Free Licensable Stock Illustrations &amp;  Drawings | Shutterstock">
            <a:extLst>
              <a:ext uri="{FF2B5EF4-FFF2-40B4-BE49-F238E27FC236}">
                <a16:creationId xmlns:a16="http://schemas.microsoft.com/office/drawing/2014/main" id="{3B561F75-C5D7-39AB-024A-316E7A22D6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1" t="7143" r="15539" b="13571"/>
          <a:stretch/>
        </p:blipFill>
        <p:spPr bwMode="auto">
          <a:xfrm>
            <a:off x="4870138" y="5214070"/>
            <a:ext cx="1524000" cy="153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42+ Thousand Data Clipart Royalty-Free Images, Stock Photos &amp; Pictures |  Shutterstock">
            <a:extLst>
              <a:ext uri="{FF2B5EF4-FFF2-40B4-BE49-F238E27FC236}">
                <a16:creationId xmlns:a16="http://schemas.microsoft.com/office/drawing/2014/main" id="{2AF4EA25-8935-29AE-6711-BF08EF426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473" y="5220623"/>
            <a:ext cx="1749595" cy="153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Scatter Plot Analysis: Over 1,187 Royalty-Free Licensable Stock  Illustrations &amp; Drawings | Shutterstock">
            <a:extLst>
              <a:ext uri="{FF2B5EF4-FFF2-40B4-BE49-F238E27FC236}">
                <a16:creationId xmlns:a16="http://schemas.microsoft.com/office/drawing/2014/main" id="{B1A11793-AD00-C9B7-4D5A-FF91EE4842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3" t="9707" r="8136" b="9286"/>
          <a:stretch/>
        </p:blipFill>
        <p:spPr bwMode="auto">
          <a:xfrm>
            <a:off x="6692277" y="5373373"/>
            <a:ext cx="1342065" cy="132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84213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A12FA2-C2E3-10BF-2D88-565025342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72AB3-1EF3-B90C-D05B-66403774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R code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E83757-F443-D166-9EC0-1246EE1F9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31500" cy="4900612"/>
          </a:xfrm>
          <a:solidFill>
            <a:schemeClr val="tx2">
              <a:lumMod val="25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CA" sz="2300" b="0" dirty="0">
              <a:solidFill>
                <a:srgbClr val="7CA66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1</a:t>
            </a:r>
            <a:r>
              <a:rPr lang="en-CA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. Inspect the data by viewing the first few rows</a:t>
            </a:r>
            <a:endParaRPr lang="en-CA" sz="2400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dirty="0">
                <a:solidFill>
                  <a:srgbClr val="4EC9B0"/>
                </a:solidFill>
                <a:latin typeface="Menlo" panose="020B0609030804020204" pitchFamily="49" charset="0"/>
              </a:rPr>
              <a:t>str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</a:t>
            </a: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data.frame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’: 813 obs. of  12 variables:</a:t>
            </a:r>
          </a:p>
          <a:p>
            <a:pPr marL="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</a:p>
          <a:p>
            <a:pPr marL="0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</a:t>
            </a: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sq_ft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int  1410 1578 2096 1540 2484 2258 1720 1410 1623 … </a:t>
            </a:r>
          </a:p>
          <a:p>
            <a:pPr marL="0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</a:p>
          <a:p>
            <a:pPr marL="0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price: int  180000 190000 289000 266510 331200 232500 290000…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en-US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Note. In this slide only relevant columns are shown</a:t>
            </a:r>
            <a:endParaRPr lang="en-US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5239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9ED31-9146-E0D0-3E6D-205A35145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B05B5-4774-F6AD-226B-87D597E19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R code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9CD9D1-376E-B87D-B477-DBDF0F27D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583112"/>
          </a:xfrm>
          <a:solidFill>
            <a:schemeClr val="tx2">
              <a:lumMod val="2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CA" sz="2400" b="0" dirty="0">
              <a:solidFill>
                <a:srgbClr val="7CA66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6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2. Summarise data by computing summary statistics</a:t>
            </a:r>
            <a:endParaRPr lang="en-CA" sz="2600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600" dirty="0">
                <a:solidFill>
                  <a:srgbClr val="4EC9B0"/>
                </a:solidFill>
                <a:latin typeface="Menlo" panose="020B0609030804020204" pitchFamily="49" charset="0"/>
              </a:rPr>
              <a:t>summary</a:t>
            </a:r>
            <a:r>
              <a:rPr lang="en-CA" sz="26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600" dirty="0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6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2600" dirty="0"/>
          </a:p>
          <a:p>
            <a:pPr marL="0" indent="0">
              <a:buNone/>
            </a:pPr>
            <a:r>
              <a:rPr lang="en-US" sz="2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sq_ft</a:t>
            </a: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...  price</a:t>
            </a:r>
          </a:p>
          <a:p>
            <a:pPr marL="0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Min.   : 484      Min.   : 30000</a:t>
            </a:r>
          </a:p>
          <a:p>
            <a:pPr marL="0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1st Qu.:1144      1st Qu.:148750</a:t>
            </a:r>
          </a:p>
          <a:p>
            <a:pPr marL="0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Median :1418      Median :208000</a:t>
            </a:r>
          </a:p>
          <a:p>
            <a:pPr marL="0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Mean   :1586      Mean   :229728</a:t>
            </a:r>
          </a:p>
          <a:p>
            <a:pPr marL="0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3rd Qu.:1851      3rd Qu.:285000</a:t>
            </a:r>
          </a:p>
          <a:p>
            <a:pPr marL="0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Max.   :4400      Max.   :884790</a:t>
            </a:r>
          </a:p>
          <a:p>
            <a:pPr marL="0" indent="0">
              <a:buNone/>
            </a:pPr>
            <a:r>
              <a:rPr lang="en-CA" sz="26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en-US" sz="2600" b="0" dirty="0">
                <a:solidFill>
                  <a:srgbClr val="7CA668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Note. In this slide only relevant columns are shown</a:t>
            </a:r>
            <a:endParaRPr lang="en-US" sz="2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43842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8984</TotalTime>
  <Words>6595</Words>
  <Application>Microsoft Macintosh PowerPoint</Application>
  <PresentationFormat>Widescreen</PresentationFormat>
  <Paragraphs>559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8" baseType="lpstr">
      <vt:lpstr>Aptos</vt:lpstr>
      <vt:lpstr>Aptos Display</vt:lpstr>
      <vt:lpstr>Arial</vt:lpstr>
      <vt:lpstr>Calibri Light</vt:lpstr>
      <vt:lpstr>Cambria Math</vt:lpstr>
      <vt:lpstr>Canva Sans</vt:lpstr>
      <vt:lpstr>Canva Sans Bold</vt:lpstr>
      <vt:lpstr>Courier</vt:lpstr>
      <vt:lpstr>Courier New</vt:lpstr>
      <vt:lpstr>Menlo</vt:lpstr>
      <vt:lpstr>Roboto Mono</vt:lpstr>
      <vt:lpstr>Wingdings</vt:lpstr>
      <vt:lpstr>1_Office Theme</vt:lpstr>
      <vt:lpstr>Correlation &amp;  Simple Linear Regression</vt:lpstr>
      <vt:lpstr>Learning objectives</vt:lpstr>
      <vt:lpstr> How are 2 sets of numbers related?</vt:lpstr>
      <vt:lpstr>The Pearson’s correlation coefficient (r)</vt:lpstr>
      <vt:lpstr>From correlation to prediction</vt:lpstr>
      <vt:lpstr>The regression problem: Finding the line of best fit</vt:lpstr>
      <vt:lpstr>The regression problem: Finding the line of best fit</vt:lpstr>
      <vt:lpstr>Example data set</vt:lpstr>
      <vt:lpstr>Data visualization</vt:lpstr>
      <vt:lpstr>Key assumptions in linear regression</vt:lpstr>
      <vt:lpstr>Simple linear regression</vt:lpstr>
      <vt:lpstr>PowerPoint Presentation</vt:lpstr>
      <vt:lpstr>PowerPoint Presentation</vt:lpstr>
      <vt:lpstr>Choosing the line of best fit</vt:lpstr>
      <vt:lpstr>Key assumptions in linear regression</vt:lpstr>
      <vt:lpstr>PowerPoint Presentation</vt:lpstr>
      <vt:lpstr>PowerPoint Presentation</vt:lpstr>
      <vt:lpstr>Putting it all together</vt:lpstr>
      <vt:lpstr>Load in packages</vt:lpstr>
      <vt:lpstr>Load and preview dataset</vt:lpstr>
      <vt:lpstr>Perform Pearson’s correlation</vt:lpstr>
      <vt:lpstr>Plot house size vs house price</vt:lpstr>
      <vt:lpstr>Perform simple linear regression</vt:lpstr>
      <vt:lpstr>Plot the line of best fit</vt:lpstr>
      <vt:lpstr>Plot Residuals: Variance Check</vt:lpstr>
      <vt:lpstr>Plot Residuals: Normality Check</vt:lpstr>
      <vt:lpstr>Evaluate model fit: RMSE</vt:lpstr>
      <vt:lpstr>Evaluate model fit: R2</vt:lpstr>
      <vt:lpstr>PowerPoint Presentation</vt:lpstr>
      <vt:lpstr>Thank you!</vt:lpstr>
      <vt:lpstr>PowerPoint Presentation</vt:lpstr>
      <vt:lpstr>PowerPoint Presentation</vt:lpstr>
      <vt:lpstr>Exploratory data analysis</vt:lpstr>
      <vt:lpstr>R code</vt:lpstr>
      <vt:lpstr>R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Gallucci</dc:creator>
  <cp:lastModifiedBy>Julia Gallucci</cp:lastModifiedBy>
  <cp:revision>307</cp:revision>
  <dcterms:created xsi:type="dcterms:W3CDTF">2025-10-24T17:17:16Z</dcterms:created>
  <dcterms:modified xsi:type="dcterms:W3CDTF">2025-11-04T00:41:15Z</dcterms:modified>
</cp:coreProperties>
</file>